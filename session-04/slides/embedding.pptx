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7" d="100"/>
          <a:sy n="97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5CEF234-73F9-4729-A570-CD7C6F59B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6CC8CF1-E61A-4FA5-B1C7-5C4D0E6F7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52B75B3-F289-48A3-A003-943538192A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FF5E15-4564-48BA-8A89-E3C95C377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82085B-4AC2-4F78-9644-C3FAFA343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61C5DD-2C5B-45DD-B14F-19CBE8B1DC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0398E32-420A-4E67-98B5-5ABB871E6E3F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82228FD-73F6-4081-BFDF-32675656DAB0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AA810D-B617-4E5C-A86F-CD8009CE1BB9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7781B7-7966-41A6-A871-E94E9E0610D9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82CE66-B8B3-4235-ADD3-63676D67CE1A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795D10-B428-4A9A-8430-D38DC87D56C6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B5CB3B-230F-49D0-9624-9705C4303B67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32E31A-CFB5-4D46-8405-102391481BE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C1E64E-9ADA-4BE7-B2F9-B766143B0B02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DF85A7-01A8-4FD1-959A-9241E788BFFD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925B7-2606-4096-96B7-2C421DEA7A58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94B0E0-A00D-4A67-BF9A-970C5DB6A7FF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C0BD89-C3C7-4817-AC0C-F9376F69E943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802D8E-A95A-455A-8E9D-217963C0ADCE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E8CC17A-A98C-4471-BA36-A195E11A2BBA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2CE22A-F5DE-4B1D-A884-BF10B1175EDB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9B5231-85C8-4D6C-9195-68BF2B9CCC08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BC802F-ACA9-4F75-A6DE-5A512B8BF19B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81F879-1D99-4FE2-9018-48712B3D2CF8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43F004-881C-4BD6-A2EF-30EEB52344FF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A6F190-8B19-443F-A8C8-E43F9A105019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E7631AC-1435-425C-8AD0-A090907E4774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D324F0-DEAB-43DC-877E-51BEF4D8DADB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349144-9B4F-43BC-B418-8334F734C2E5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AA04FA-1647-497E-A92D-9A81C279B2EA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14C2A2-7EC6-4844-B246-CA64FEF1717B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4D1036-84BE-4707-9BD2-AF52496E913F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B6D0BD-934B-477F-B540-707CDAFB9ACF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376B89-CF82-4BD1-9EC7-C278E7A8221A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9731972-E5F3-4FE1-89E2-D2F2ED87EA9A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28AC5E-C6AD-4E28-BB09-FF7338C04A08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A3DBE0-76E3-4218-B50E-E5733D5BE079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00ABF85-3A3B-4A58-A910-E91443960B7E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1291026-B1D7-4E5E-A88E-23FBD061965D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4E48245-BF0B-45D6-B108-04A853BF5133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14C236F-3444-4C8C-AA40-52812BF20761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8496723-0E87-47D7-B4D8-7497C09C3484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BEB5BE8-1990-4A5B-AEAD-FADF012AB6E3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B9FBF2A-A299-4DB5-A891-1AFC7C7BDC71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45137CA-0EFE-400A-BCBB-B33EF68F3FD6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D4A85A6-BBC0-4149-BBE6-776E916A91C1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F085D5-177C-4165-966A-EFDBD9E40985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2570B5-02AD-4C11-856D-36AF0B0F1FB0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FCAD38C-E487-4486-AF97-D7F7132A0CE1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5610EAB-3E2B-47FD-AEA5-6ECFAF4350E4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DBAB860-1464-449C-AA81-03D0FE2E8BDD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232310E-0D33-475C-B6BB-7B3A63CB5498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3A53511-13D2-4BC0-8A07-C8F9C16F9832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A8CA2AD-1EAC-45E6-9CA2-994BDBFAF111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FFFDBF1-700A-499E-AADE-83E4649508BB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5930FF7-CFB2-4593-8FE4-ECECD89080EF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73F70B3-F453-4B4A-91E9-48D1D8404640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60D4754-F42B-4FF9-91F2-618DF4B22D7C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5734050" cy="4629150"/>
          </a:xfrm>
          <a:prstGeom prst="roundRect">
            <a:avLst>
              <a:gd name="adj" fmla="val 1646"/>
            </a:avLst>
          </a:prstGeom>
          <a:solidFill>
            <a:srgbClr val="FFFDF6">
              <a:alpha val="90980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459111-2EBB-4989-9091-DF9D00FEFD7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6200" cy="4629150"/>
          </a:xfrm>
          <a:prstGeom prst="rect">
            <a:avLst/>
          </a:prstGeom>
          <a:solidFill>
            <a:srgbClr val="0FA5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60871BF-7A5C-4151-9868-2AE9B70B4FA0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48387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Embedding</a:t>
            </a:r>
          </a:p>
          <a:p>
            <a:pPr algn="l"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의미를 좌표로 바꾸는 기술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BC1AF1-D13A-4A4A-A39C-CFF09E89AF67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4572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44450"/>
                </a:solidFill>
              </a:defRPr>
            </a:pPr>
            <a:r>
              <a:rPr sz="1500" b="0">
                <a:solidFill>
                  <a:srgbClr val="344450"/>
                </a:solidFill>
              </a:rPr>
              <a:t>임베딩은 텍스트, 이미지, 오디오 같은 객체를</a:t>
            </a:r>
          </a:p>
          <a:p>
            <a:pPr algn="l">
              <a:defRPr sz="1500" b="0">
                <a:solidFill>
                  <a:srgbClr val="344450"/>
                </a:solidFill>
              </a:defRPr>
            </a:pPr>
            <a:r>
              <a:rPr sz="1500" b="0">
                <a:solidFill>
                  <a:srgbClr val="344450"/>
                </a:solidFill>
              </a:rPr>
              <a:t>연속 벡터 공간의 점으로 표현해</a:t>
            </a:r>
          </a:p>
          <a:p>
            <a:pPr algn="l">
              <a:defRPr sz="1500" b="0">
                <a:solidFill>
                  <a:srgbClr val="344450"/>
                </a:solidFill>
              </a:defRPr>
            </a:pPr>
            <a:r>
              <a:rPr sz="1500" b="0">
                <a:solidFill>
                  <a:srgbClr val="344450"/>
                </a:solidFill>
              </a:rPr>
              <a:t>모델이 유사성과 맥락을 더 잘 읽도록 돕습니다.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83804A6-4DEC-4C91-84B1-FC1CB1041A64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23622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0000"/>
            </a:srgbClr>
          </a:solidFill>
          <a:ln w="11430">
            <a:solidFill>
              <a:srgbClr val="0F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FB9898A-31F4-4A10-81FC-B4CE5CA2890E}"/>
              </a:ext>
            </a:extLst>
          </p:cNvPr>
          <p:cNvSpPr>
            <a:spLocks noGrp="1"/>
          </p:cNvSpPr>
          <p:nvPr/>
        </p:nvSpPr>
        <p:spPr>
          <a:xfrm>
            <a:off x="1009650" y="45434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A5A6"/>
                </a:solidFill>
              </a:defRPr>
            </a:pPr>
            <a:r>
              <a:rPr sz="900" b="1">
                <a:solidFill>
                  <a:srgbClr val="0FA5A6"/>
                </a:solidFill>
              </a:rPr>
              <a:t>핵심: 비슷한 것은 가까이 놓인다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2CE301D-262D-474A-90A5-BAE3579DBE6E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742950" cy="323850"/>
          </a:xfrm>
          <a:prstGeom prst="roundRect">
            <a:avLst>
              <a:gd name="adj" fmla="val 23529"/>
            </a:avLst>
          </a:prstGeom>
          <a:solidFill>
            <a:srgbClr val="FFF7F3"/>
          </a:solidFill>
          <a:ln w="11430">
            <a:solidFill>
              <a:srgbClr val="F181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57052E-D4F0-425E-AD35-ED78A81B535A}"/>
              </a:ext>
            </a:extLst>
          </p:cNvPr>
          <p:cNvSpPr>
            <a:spLocks noGrp="1"/>
          </p:cNvSpPr>
          <p:nvPr/>
        </p:nvSpPr>
        <p:spPr>
          <a:xfrm>
            <a:off x="1009650" y="5038725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18168"/>
                </a:solidFill>
              </a:defRPr>
            </a:pPr>
            <a:r>
              <a:rPr sz="900" b="1">
                <a:solidFill>
                  <a:srgbClr val="F18168"/>
                </a:solidFill>
              </a:rPr>
              <a:t>검색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8690B53-3777-42A9-8DD7-64C18E6E41DB}"/>
              </a:ext>
            </a:extLst>
          </p:cNvPr>
          <p:cNvSpPr>
            <a:spLocks noGrp="1"/>
          </p:cNvSpPr>
          <p:nvPr/>
        </p:nvSpPr>
        <p:spPr>
          <a:xfrm>
            <a:off x="1714500" y="4972050"/>
            <a:ext cx="742950" cy="323850"/>
          </a:xfrm>
          <a:prstGeom prst="roundRect">
            <a:avLst>
              <a:gd name="adj" fmla="val 23529"/>
            </a:avLst>
          </a:prstGeom>
          <a:solidFill>
            <a:srgbClr val="FFF9EE"/>
          </a:solidFill>
          <a:ln w="11430">
            <a:solidFill>
              <a:srgbClr val="D4A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1B49DE8-14A5-4025-BDB5-371461C438B8}"/>
              </a:ext>
            </a:extLst>
          </p:cNvPr>
          <p:cNvSpPr>
            <a:spLocks noGrp="1"/>
          </p:cNvSpPr>
          <p:nvPr/>
        </p:nvSpPr>
        <p:spPr>
          <a:xfrm>
            <a:off x="1847850" y="5038725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4A64B"/>
                </a:solidFill>
              </a:defRPr>
            </a:pPr>
            <a:r>
              <a:rPr sz="900" b="1">
                <a:solidFill>
                  <a:srgbClr val="D4A64B"/>
                </a:solidFill>
              </a:rPr>
              <a:t>추천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7BE7863-ED26-4C91-A393-D45D06EAF940}"/>
              </a:ext>
            </a:extLst>
          </p:cNvPr>
          <p:cNvSpPr>
            <a:spLocks noGrp="1"/>
          </p:cNvSpPr>
          <p:nvPr/>
        </p:nvSpPr>
        <p:spPr>
          <a:xfrm>
            <a:off x="2552700" y="4972050"/>
            <a:ext cx="742950" cy="323850"/>
          </a:xfrm>
          <a:prstGeom prst="roundRect">
            <a:avLst>
              <a:gd name="adj" fmla="val 23529"/>
            </a:avLst>
          </a:prstGeom>
          <a:solidFill>
            <a:srgbClr val="F3FBF7"/>
          </a:solidFill>
          <a:ln w="11430">
            <a:solidFill>
              <a:srgbClr val="43C3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FD5A44-5537-4278-BFDA-82C95449E73D}"/>
              </a:ext>
            </a:extLst>
          </p:cNvPr>
          <p:cNvSpPr>
            <a:spLocks noGrp="1"/>
          </p:cNvSpPr>
          <p:nvPr/>
        </p:nvSpPr>
        <p:spPr>
          <a:xfrm>
            <a:off x="2686050" y="5038725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3C388"/>
                </a:solidFill>
              </a:defRPr>
            </a:pPr>
            <a:r>
              <a:rPr sz="900" b="1">
                <a:solidFill>
                  <a:srgbClr val="43C388"/>
                </a:solidFill>
              </a:rPr>
              <a:t>챗봇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F4EF0A9-8B12-4CEE-87B7-7CFF16FFE811}"/>
              </a:ext>
            </a:extLst>
          </p:cNvPr>
          <p:cNvSpPr>
            <a:spLocks noGrp="1"/>
          </p:cNvSpPr>
          <p:nvPr/>
        </p:nvSpPr>
        <p:spPr>
          <a:xfrm>
            <a:off x="7334250" y="1143000"/>
            <a:ext cx="3505200" cy="3505200"/>
          </a:xfrm>
          <a:prstGeom prst="ellipse">
            <a:avLst/>
          </a:prstGeom>
          <a:solidFill>
            <a:srgbClr val="0FA5A6">
              <a:alpha val="10980"/>
            </a:srgbClr>
          </a:solidFill>
          <a:ln w="19050">
            <a:solidFill>
              <a:srgbClr val="0FA5A6">
                <a:alpha val="27451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8E06C22-3860-4927-AA28-E4F4A2349835}"/>
              </a:ext>
            </a:extLst>
          </p:cNvPr>
          <p:cNvSpPr>
            <a:spLocks noGrp="1"/>
          </p:cNvSpPr>
          <p:nvPr/>
        </p:nvSpPr>
        <p:spPr>
          <a:xfrm>
            <a:off x="7981950" y="1790700"/>
            <a:ext cx="2209800" cy="2209800"/>
          </a:xfrm>
          <a:prstGeom prst="ellipse">
            <a:avLst/>
          </a:prstGeom>
          <a:solidFill>
            <a:srgbClr val="72D6E7">
              <a:alpha val="12549"/>
            </a:srgbClr>
          </a:solidFill>
          <a:ln w="19050">
            <a:solidFill>
              <a:srgbClr val="72D6E7">
                <a:alpha val="2902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66AF4A-34A9-4119-B50D-4B47B496B98F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1562100" cy="19050"/>
          </a:xfrm>
          <a:prstGeom prst="rect">
            <a:avLst/>
          </a:prstGeom>
          <a:solidFill>
            <a:srgbClr val="173746">
              <a:alpha val="2117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816778-1809-4A66-A53B-85ECBCA5BC0A}"/>
              </a:ext>
            </a:extLst>
          </p:cNvPr>
          <p:cNvSpPr>
            <a:spLocks noGrp="1"/>
          </p:cNvSpPr>
          <p:nvPr/>
        </p:nvSpPr>
        <p:spPr>
          <a:xfrm>
            <a:off x="8667750" y="2362200"/>
            <a:ext cx="19050" cy="1333500"/>
          </a:xfrm>
          <a:prstGeom prst="rect">
            <a:avLst/>
          </a:prstGeom>
          <a:solidFill>
            <a:srgbClr val="17374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AFCABDA-3579-476B-A527-8A7D64205B84}"/>
              </a:ext>
            </a:extLst>
          </p:cNvPr>
          <p:cNvSpPr>
            <a:spLocks noGrp="1"/>
          </p:cNvSpPr>
          <p:nvPr/>
        </p:nvSpPr>
        <p:spPr>
          <a:xfrm>
            <a:off x="8153400" y="2514600"/>
            <a:ext cx="381000" cy="381000"/>
          </a:xfrm>
          <a:prstGeom prst="ellipse">
            <a:avLst/>
          </a:prstGeom>
          <a:solidFill>
            <a:srgbClr val="0FA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E70022-20D8-4473-9A2C-3B669FDB3911}"/>
              </a:ext>
            </a:extLst>
          </p:cNvPr>
          <p:cNvSpPr>
            <a:spLocks noGrp="1"/>
          </p:cNvSpPr>
          <p:nvPr/>
        </p:nvSpPr>
        <p:spPr>
          <a:xfrm>
            <a:off x="8058150" y="29718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의미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7F57D1C-A193-4D7B-89C5-0D3B30771197}"/>
              </a:ext>
            </a:extLst>
          </p:cNvPr>
          <p:cNvSpPr>
            <a:spLocks noGrp="1"/>
          </p:cNvSpPr>
          <p:nvPr/>
        </p:nvSpPr>
        <p:spPr>
          <a:xfrm>
            <a:off x="9182100" y="2324100"/>
            <a:ext cx="304800" cy="304800"/>
          </a:xfrm>
          <a:prstGeom prst="ellipse">
            <a:avLst/>
          </a:prstGeom>
          <a:solidFill>
            <a:srgbClr val="72D6E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DD42CAE-E3A2-4153-A75F-A2AE1D0C0096}"/>
              </a:ext>
            </a:extLst>
          </p:cNvPr>
          <p:cNvSpPr>
            <a:spLocks noGrp="1"/>
          </p:cNvSpPr>
          <p:nvPr/>
        </p:nvSpPr>
        <p:spPr>
          <a:xfrm>
            <a:off x="9086850" y="2705100"/>
            <a:ext cx="49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문맥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74D727B-B698-46DC-B7C8-5AB75CE761DA}"/>
              </a:ext>
            </a:extLst>
          </p:cNvPr>
          <p:cNvSpPr>
            <a:spLocks noGrp="1"/>
          </p:cNvSpPr>
          <p:nvPr/>
        </p:nvSpPr>
        <p:spPr>
          <a:xfrm>
            <a:off x="8896350" y="3257550"/>
            <a:ext cx="342900" cy="342900"/>
          </a:xfrm>
          <a:prstGeom prst="ellipse">
            <a:avLst/>
          </a:prstGeom>
          <a:solidFill>
            <a:srgbClr val="F1816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0CE11A2-9BE9-4150-AA19-A636945137E9}"/>
              </a:ext>
            </a:extLst>
          </p:cNvPr>
          <p:cNvSpPr>
            <a:spLocks noGrp="1"/>
          </p:cNvSpPr>
          <p:nvPr/>
        </p:nvSpPr>
        <p:spPr>
          <a:xfrm>
            <a:off x="8801100" y="36766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유사성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96FD7BA-6602-4088-9FD1-940324D75EAA}"/>
              </a:ext>
            </a:extLst>
          </p:cNvPr>
          <p:cNvSpPr>
            <a:spLocks noGrp="1"/>
          </p:cNvSpPr>
          <p:nvPr/>
        </p:nvSpPr>
        <p:spPr>
          <a:xfrm>
            <a:off x="10058400" y="2838450"/>
            <a:ext cx="266700" cy="266700"/>
          </a:xfrm>
          <a:prstGeom prst="ellipse">
            <a:avLst/>
          </a:prstGeom>
          <a:solidFill>
            <a:srgbClr val="D4A6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01A51F8-112B-4326-AB03-1EC6F66513B1}"/>
              </a:ext>
            </a:extLst>
          </p:cNvPr>
          <p:cNvSpPr>
            <a:spLocks noGrp="1"/>
          </p:cNvSpPr>
          <p:nvPr/>
        </p:nvSpPr>
        <p:spPr>
          <a:xfrm>
            <a:off x="9963150" y="31813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검색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CAA857E-3D8F-41C7-8D4E-E43AEBB243DB}"/>
              </a:ext>
            </a:extLst>
          </p:cNvPr>
          <p:cNvSpPr>
            <a:spLocks noGrp="1"/>
          </p:cNvSpPr>
          <p:nvPr/>
        </p:nvSpPr>
        <p:spPr>
          <a:xfrm>
            <a:off x="7334250" y="4705350"/>
            <a:ext cx="3543300" cy="933450"/>
          </a:xfrm>
          <a:prstGeom prst="roundRect">
            <a:avLst>
              <a:gd name="adj" fmla="val 8163"/>
            </a:avLst>
          </a:prstGeom>
          <a:solidFill>
            <a:srgbClr val="FFFDF5">
              <a:alpha val="84706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D49F77A-F778-4742-A845-37C16661B460}"/>
              </a:ext>
            </a:extLst>
          </p:cNvPr>
          <p:cNvSpPr>
            <a:spLocks noGrp="1"/>
          </p:cNvSpPr>
          <p:nvPr/>
        </p:nvSpPr>
        <p:spPr>
          <a:xfrm>
            <a:off x="7562850" y="4953000"/>
            <a:ext cx="3086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Embedding = 의미를 보존한 좌표 표현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52178DC-9F48-4AFC-A0D3-DAC0937951CA}"/>
              </a:ext>
            </a:extLst>
          </p:cNvPr>
          <p:cNvSpPr>
            <a:spLocks noGrp="1"/>
          </p:cNvSpPr>
          <p:nvPr/>
        </p:nvSpPr>
        <p:spPr>
          <a:xfrm>
            <a:off x="7562850" y="5276850"/>
            <a:ext cx="3086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450"/>
                </a:solidFill>
              </a:defRPr>
            </a:pPr>
            <a:r>
              <a:rPr sz="975" b="0">
                <a:solidFill>
                  <a:srgbClr val="344450"/>
                </a:solidFill>
              </a:rPr>
              <a:t>복잡한 데이터를 벡터로 바꿔 다운스트림 작업을 쉽게 만든다.</a:t>
            </a:r>
          </a:p>
        </p:txBody>
      </p:sp>
    </p:spTree>
    <p:extLst>
      <p:ext uri="{BB962C8B-B14F-4D97-AF65-F5344CB8AC3E}">
        <p14:creationId xmlns:p14="http://schemas.microsoft.com/office/powerpoint/2010/main" val="81221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8A39942-3498-4C5C-B6B1-57094FAB375F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0A7D43-7E8A-4E78-A88B-26D17678A362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DE3F47-E586-4AE9-B0D5-E53A7FAAF0AB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6E33D5-4866-4A16-B0F5-125147C3D694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8ACDF1-B1E3-44E6-8EE4-6BC985183860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83A35C-5E91-4A3E-A74D-6DC5E844B6DD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1A0EDD-5F95-429E-898B-A2E2B6E4D769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CE72A3-3EDB-4250-8D57-8D775993954A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F87279-1843-4492-83B4-217C5F428028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DAC50C-05A6-42F9-98E8-6728D2092A6E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ADC5BC-54A6-43F0-9D89-AB7701E042D3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5F610F-AC86-49F3-9023-9D1FEA26E7C5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C121E4-6766-48A2-B6D9-AFA4578F6F04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45BE28-5A27-45CD-832A-35344480D89F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964FC8-B659-47A9-8E99-6E41F06C5002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F19FDE6-61D2-4CAA-B694-96982CD5B86F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FA6839-6300-4209-9A80-CC929B98C2B6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D2DB1F-2215-4F7C-8705-8BB6228363B3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2422F8-0A21-4C27-8E58-662DB5AADB9C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47A00C-7311-488A-86BD-B51AB349676B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6079F6-34FA-4A77-A16B-BD29DE4056E9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373B451-EE79-4973-AFF3-E7EF72344BBC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51913A-1C3E-4D95-BF8C-5417F279D174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9BE9C7-75C3-4C06-8615-904D93B95003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89399B-18F2-4AA6-BF5A-AAF531EC211E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F1EF2B-64A0-4C4B-8721-5C0EFAB1D853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4B4F49A-6897-4F01-85D0-97684CE3BF63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5D496F-C356-4546-BB6A-A33C6DAA359F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8BA860-A111-43AD-A5FF-1042EDE0EB02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48B11A-26D0-47D0-A08B-367C25E70DAE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9070BE-07D0-46FF-B47D-7DE7C349CDF0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87C0E5D-1E33-4D90-BAE6-52C89C89751A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103CB35-0AD8-4F25-8BE3-E9ACEC28CC12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3FCEC6B-919A-4685-B69F-4172C1C9124C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E280E43-0334-45F0-BEAC-DFE1E86A2836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64A604-C765-4B44-A5FB-B1CFAE959D4A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149A6A8-CE03-4014-A4CC-A7B79EAED2A4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6BEE8FA-FA29-4AF2-9DA7-BFB5573DD8D4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CCCCBDF-AF17-47F3-87B7-6493536219D9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CD99CBE-A02E-49BA-94FE-9D81A6C26106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F74465E-4D77-45A2-9ED0-ABBC06CC9C00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D1DF7C-EFAA-4412-BC7B-68EE1FAC7C57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B6F1D37-1E1F-4638-AA66-3A499063CBEA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811E7C4-A36C-4A90-AFB9-10FD14F33EE0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DB89AB-BD5A-4A6C-BA34-45DE790A5668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4EFB4C5-B810-4BCF-94EA-E7C63CA2B807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18C4F02-7F1A-44C9-84DC-9F64B645A887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2BBA54-F178-4A40-A0A9-4A1A54CBC586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D8D7494-4F92-49D7-AF77-03AD87211AE8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6A2B048-7C17-450A-BF16-D0E737F4604E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E1A8E3A-ACEF-489B-8411-0CE842EA2D67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21DCE16-B9DA-4C99-B545-4FBEDCA0AAB5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A7F129-F1A5-43F4-ABD3-0205060CCB6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CONCEPT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5F8A7DB-52C9-40F5-98D2-9B535F22C5FB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02 / 07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24FC6A4-A83D-4F43-AF92-0FC40BBD92B4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7A08CAE-AC63-4CF6-A4AF-EB8ABA074018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D08DC3-9D59-4766-9236-773A35824E8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임베딩은 복잡한 데이터를</a:t>
            </a:r>
          </a:p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숫자 좌표로 압축한다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D43633-5494-4F74-93F7-4A9EC41B5BC5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 dirty="0" err="1">
                <a:solidFill>
                  <a:srgbClr val="344450"/>
                </a:solidFill>
              </a:rPr>
              <a:t>임베딩을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객체를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연속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벡터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공간의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점으로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표현하는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수단으로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설명한다</a:t>
            </a:r>
            <a:r>
              <a:rPr sz="1350" b="0" dirty="0">
                <a:solidFill>
                  <a:srgbClr val="344450"/>
                </a:solidFill>
              </a:rPr>
              <a:t>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10AA82A-394C-4BB6-842C-EB74FBC06DC3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3086100" cy="1276350"/>
          </a:xfrm>
          <a:prstGeom prst="roundRect">
            <a:avLst>
              <a:gd name="adj" fmla="val 5970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89DBB7-4451-4B9C-B2DB-E4F9C24BBE8B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76200" cy="1276350"/>
          </a:xfrm>
          <a:prstGeom prst="rect">
            <a:avLst/>
          </a:prstGeom>
          <a:solidFill>
            <a:srgbClr val="0FA5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83DC9AC-F359-4807-BD93-15E08D6C1CD7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A5A6"/>
                </a:solidFill>
              </a:defRPr>
            </a:pPr>
            <a:r>
              <a:rPr sz="1200" b="1">
                <a:solidFill>
                  <a:srgbClr val="0FA5A6"/>
                </a:solidFill>
              </a:rPr>
              <a:t>객체 -&gt; 벡터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0D9F6E1-547F-4C04-A4B5-623DA00E77A7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262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단어, 이미지, 오디오처럼 형태가 다른 입력도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숫자 배열로 바뀌면 같은 계산 체계에서 다룰 수 있다.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04E42B6-397C-453C-9C29-763F18E116C0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3086100" cy="1276350"/>
          </a:xfrm>
          <a:prstGeom prst="roundRect">
            <a:avLst>
              <a:gd name="adj" fmla="val 5970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34C0E80-9D54-47DD-9824-968C1960AB13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76200" cy="1276350"/>
          </a:xfrm>
          <a:prstGeom prst="rect">
            <a:avLst/>
          </a:prstGeom>
          <a:solidFill>
            <a:srgbClr val="F181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04905D2-B4B6-46F6-951A-67C307BF1410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8168"/>
                </a:solidFill>
              </a:defRPr>
            </a:pPr>
            <a:r>
              <a:rPr sz="1200" b="1">
                <a:solidFill>
                  <a:srgbClr val="F18168"/>
                </a:solidFill>
              </a:rPr>
              <a:t>가까움 = 유사성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57C155-126E-48D9-B0DE-712156E88B71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262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벡터 공간에서 서로 가까운 항목일수록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의미나 문맥도 비슷하다고 해석한다.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07C4538-2885-42E8-836F-AF598DB7131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3086100" cy="666750"/>
          </a:xfrm>
          <a:prstGeom prst="roundRect">
            <a:avLst>
              <a:gd name="adj" fmla="val 1142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2618EBE-BB89-459C-908F-7E75654FBF29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76200" cy="666750"/>
          </a:xfrm>
          <a:prstGeom prst="rect">
            <a:avLst/>
          </a:prstGeom>
          <a:solidFill>
            <a:srgbClr val="D4A6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6CD9720-D936-45B6-B911-004994BEC6A5}"/>
              </a:ext>
            </a:extLst>
          </p:cNvPr>
          <p:cNvSpPr>
            <a:spLocks noGrp="1"/>
          </p:cNvSpPr>
          <p:nvPr/>
        </p:nvSpPr>
        <p:spPr>
          <a:xfrm>
            <a:off x="838200" y="5772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4A64B"/>
                </a:solidFill>
              </a:defRPr>
            </a:pPr>
            <a:r>
              <a:rPr sz="1125" b="1">
                <a:solidFill>
                  <a:srgbClr val="D4A64B"/>
                </a:solidFill>
              </a:rPr>
              <a:t>학습된 표현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6172618-7130-499A-A509-49EE28F3AAD0}"/>
              </a:ext>
            </a:extLst>
          </p:cNvPr>
          <p:cNvSpPr>
            <a:spLocks noGrp="1"/>
          </p:cNvSpPr>
          <p:nvPr/>
        </p:nvSpPr>
        <p:spPr>
          <a:xfrm>
            <a:off x="1981200" y="5772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212B"/>
                </a:solidFill>
              </a:defRPr>
            </a:pPr>
            <a:r>
              <a:rPr sz="1050" b="0">
                <a:solidFill>
                  <a:srgbClr val="10212B"/>
                </a:solidFill>
              </a:rPr>
              <a:t>명시적 규칙보다 데이터에서 패턴을 배운다.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D0AD24C-4C62-41D0-989B-E3E389427C1C}"/>
              </a:ext>
            </a:extLst>
          </p:cNvPr>
          <p:cNvSpPr>
            <a:spLocks noGrp="1"/>
          </p:cNvSpPr>
          <p:nvPr/>
        </p:nvSpPr>
        <p:spPr>
          <a:xfrm>
            <a:off x="4171950" y="2381250"/>
            <a:ext cx="6838950" cy="3695700"/>
          </a:xfrm>
          <a:prstGeom prst="roundRect">
            <a:avLst>
              <a:gd name="adj" fmla="val 2062"/>
            </a:avLst>
          </a:prstGeom>
          <a:solidFill>
            <a:srgbClr val="FFFFFF">
              <a:alpha val="78431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0AF5883-83F7-432E-9E3D-F6E5D4158A3B}"/>
              </a:ext>
            </a:extLst>
          </p:cNvPr>
          <p:cNvSpPr>
            <a:spLocks noGrp="1"/>
          </p:cNvSpPr>
          <p:nvPr/>
        </p:nvSpPr>
        <p:spPr>
          <a:xfrm>
            <a:off x="6610350" y="268605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연속 벡터 공간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1701C2-C696-4D5E-8E11-BE13B581E990}"/>
              </a:ext>
            </a:extLst>
          </p:cNvPr>
          <p:cNvSpPr>
            <a:spLocks noGrp="1"/>
          </p:cNvSpPr>
          <p:nvPr/>
        </p:nvSpPr>
        <p:spPr>
          <a:xfrm>
            <a:off x="5219700" y="4171950"/>
            <a:ext cx="44577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D97463-2B45-41EF-AD14-8E3BFA41CD61}"/>
              </a:ext>
            </a:extLst>
          </p:cNvPr>
          <p:cNvSpPr>
            <a:spLocks noGrp="1"/>
          </p:cNvSpPr>
          <p:nvPr/>
        </p:nvSpPr>
        <p:spPr>
          <a:xfrm>
            <a:off x="7429500" y="3181350"/>
            <a:ext cx="19050" cy="190500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CCCB204-E68D-4A90-B16A-C947195D5CB4}"/>
              </a:ext>
            </a:extLst>
          </p:cNvPr>
          <p:cNvSpPr>
            <a:spLocks noGrp="1"/>
          </p:cNvSpPr>
          <p:nvPr/>
        </p:nvSpPr>
        <p:spPr>
          <a:xfrm>
            <a:off x="5619750" y="3333750"/>
            <a:ext cx="2286000" cy="1428750"/>
          </a:xfrm>
          <a:prstGeom prst="ellipse">
            <a:avLst/>
          </a:prstGeom>
          <a:solidFill>
            <a:srgbClr val="0FA5A6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2FC2246-7383-4C4A-B91F-DDDCCC99389D}"/>
              </a:ext>
            </a:extLst>
          </p:cNvPr>
          <p:cNvSpPr>
            <a:spLocks noGrp="1"/>
          </p:cNvSpPr>
          <p:nvPr/>
        </p:nvSpPr>
        <p:spPr>
          <a:xfrm>
            <a:off x="7543800" y="3086100"/>
            <a:ext cx="1981200" cy="1314450"/>
          </a:xfrm>
          <a:prstGeom prst="ellipse">
            <a:avLst/>
          </a:prstGeom>
          <a:solidFill>
            <a:srgbClr val="72D6E7">
              <a:alpha val="862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CAA977D-084D-4FA4-8EF1-CD561BD6FA79}"/>
              </a:ext>
            </a:extLst>
          </p:cNvPr>
          <p:cNvSpPr>
            <a:spLocks noGrp="1"/>
          </p:cNvSpPr>
          <p:nvPr/>
        </p:nvSpPr>
        <p:spPr>
          <a:xfrm>
            <a:off x="6019800" y="3676650"/>
            <a:ext cx="342900" cy="342900"/>
          </a:xfrm>
          <a:prstGeom prst="ellipse">
            <a:avLst/>
          </a:prstGeom>
          <a:solidFill>
            <a:srgbClr val="0FA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29CFA7F-6D9D-4ADB-BA2E-7624CBA79FC4}"/>
              </a:ext>
            </a:extLst>
          </p:cNvPr>
          <p:cNvSpPr>
            <a:spLocks noGrp="1"/>
          </p:cNvSpPr>
          <p:nvPr/>
        </p:nvSpPr>
        <p:spPr>
          <a:xfrm>
            <a:off x="5924550" y="40957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텍스트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C305B15-E49C-4506-80D0-DD1342D7B40E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285750" cy="285750"/>
          </a:xfrm>
          <a:prstGeom prst="ellipse">
            <a:avLst/>
          </a:prstGeom>
          <a:solidFill>
            <a:srgbClr val="43C3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DD321BD-F31C-4148-B51A-B23BDDF5F4B7}"/>
              </a:ext>
            </a:extLst>
          </p:cNvPr>
          <p:cNvSpPr>
            <a:spLocks noGrp="1"/>
          </p:cNvSpPr>
          <p:nvPr/>
        </p:nvSpPr>
        <p:spPr>
          <a:xfrm>
            <a:off x="6572250" y="43053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문서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EDAFEC1-143C-49DA-B988-E72ECEDAEBC9}"/>
              </a:ext>
            </a:extLst>
          </p:cNvPr>
          <p:cNvSpPr>
            <a:spLocks noGrp="1"/>
          </p:cNvSpPr>
          <p:nvPr/>
        </p:nvSpPr>
        <p:spPr>
          <a:xfrm>
            <a:off x="7067550" y="3543300"/>
            <a:ext cx="266700" cy="266700"/>
          </a:xfrm>
          <a:prstGeom prst="ellipse">
            <a:avLst/>
          </a:prstGeom>
          <a:solidFill>
            <a:srgbClr val="72D6E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2184F8-1880-41C3-9C09-08F0051AAE0A}"/>
              </a:ext>
            </a:extLst>
          </p:cNvPr>
          <p:cNvSpPr>
            <a:spLocks noGrp="1"/>
          </p:cNvSpPr>
          <p:nvPr/>
        </p:nvSpPr>
        <p:spPr>
          <a:xfrm>
            <a:off x="6972300" y="38862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질문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F82AA7A-5C82-4BDB-81CB-0379E212E07E}"/>
              </a:ext>
            </a:extLst>
          </p:cNvPr>
          <p:cNvSpPr>
            <a:spLocks noGrp="1"/>
          </p:cNvSpPr>
          <p:nvPr/>
        </p:nvSpPr>
        <p:spPr>
          <a:xfrm>
            <a:off x="8210550" y="3448050"/>
            <a:ext cx="323850" cy="323850"/>
          </a:xfrm>
          <a:prstGeom prst="ellipse">
            <a:avLst/>
          </a:prstGeom>
          <a:solidFill>
            <a:srgbClr val="F1816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847549D-315A-462F-A5A1-FC69C736312A}"/>
              </a:ext>
            </a:extLst>
          </p:cNvPr>
          <p:cNvSpPr>
            <a:spLocks noGrp="1"/>
          </p:cNvSpPr>
          <p:nvPr/>
        </p:nvSpPr>
        <p:spPr>
          <a:xfrm>
            <a:off x="8115300" y="38481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이미지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36C423F-3553-4BB2-A7BB-2FAC94D57815}"/>
              </a:ext>
            </a:extLst>
          </p:cNvPr>
          <p:cNvSpPr>
            <a:spLocks noGrp="1"/>
          </p:cNvSpPr>
          <p:nvPr/>
        </p:nvSpPr>
        <p:spPr>
          <a:xfrm>
            <a:off x="8896350" y="3867150"/>
            <a:ext cx="285750" cy="285750"/>
          </a:xfrm>
          <a:prstGeom prst="ellipse">
            <a:avLst/>
          </a:prstGeom>
          <a:solidFill>
            <a:srgbClr val="D4A64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D48E6D-9762-43FE-AD62-A460860FEF3A}"/>
              </a:ext>
            </a:extLst>
          </p:cNvPr>
          <p:cNvSpPr>
            <a:spLocks noGrp="1"/>
          </p:cNvSpPr>
          <p:nvPr/>
        </p:nvSpPr>
        <p:spPr>
          <a:xfrm>
            <a:off x="8801100" y="42291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오디오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695DFD8-0D68-4F2C-9D77-E6AA891B115B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266700" cy="266700"/>
          </a:xfrm>
          <a:prstGeom prst="ellipse">
            <a:avLst/>
          </a:prstGeom>
          <a:solidFill>
            <a:srgbClr val="43C3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79A3FDC-AFA7-43F9-B686-BDD0D6E1513B}"/>
              </a:ext>
            </a:extLst>
          </p:cNvPr>
          <p:cNvSpPr>
            <a:spLocks noGrp="1"/>
          </p:cNvSpPr>
          <p:nvPr/>
        </p:nvSpPr>
        <p:spPr>
          <a:xfrm>
            <a:off x="7905750" y="46863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그래프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7419F7A-2CE4-4E31-8677-85BD16F457FE}"/>
              </a:ext>
            </a:extLst>
          </p:cNvPr>
          <p:cNvSpPr>
            <a:spLocks noGrp="1"/>
          </p:cNvSpPr>
          <p:nvPr/>
        </p:nvSpPr>
        <p:spPr>
          <a:xfrm>
            <a:off x="5810250" y="5295900"/>
            <a:ext cx="3486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44450"/>
                </a:solidFill>
              </a:defRPr>
            </a:pPr>
            <a:r>
              <a:rPr sz="1050" b="0">
                <a:solidFill>
                  <a:srgbClr val="344450"/>
                </a:solidFill>
              </a:rPr>
              <a:t>가까운 점은 더 비슷한 의미를 가진다</a:t>
            </a:r>
          </a:p>
        </p:txBody>
      </p:sp>
    </p:spTree>
    <p:extLst>
      <p:ext uri="{BB962C8B-B14F-4D97-AF65-F5344CB8AC3E}">
        <p14:creationId xmlns:p14="http://schemas.microsoft.com/office/powerpoint/2010/main" val="112779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5F77ACB-29B2-4DA6-8E72-FBAFDB4E6682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BCC91B-8A3A-4621-8247-8DAB634B2AFE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89ED4B-7ADB-4A5C-8B74-8170244D40F9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5DDACC-4421-4A66-B426-66253D72992D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CC85EC-9A6B-4EA6-B7C3-1F60F35D5A20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5387A0-6EAB-431C-971C-F1500F03D93D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E6ADD4-16E8-452C-8E5E-10C93742A0CB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4B3A42-4B67-4C56-A5F5-1CDC5209B02D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3D06BDB-4F3D-4ACE-A234-AF9BC798409B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651AA6-4718-43E5-8924-50E63D6DF517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093D28-94CA-4E72-8738-D6E4F5878D94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B403F6-B565-491E-9800-A02A8413FF7D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C81084-EDFE-4A38-9B4E-852D7FF8872C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E768F1-AF19-4D2F-A3DD-846EA4CC2E3E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F5B33B-162E-4EB7-8AC0-89F83785ED88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38DF96-FBDB-436F-A385-DF820CAC4A06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8F75F1-002C-4375-A4B2-5BCC5C600503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6632FA-06DC-4C8C-836A-85EFD472F84E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9FE342-059A-4964-9257-75B1777021B4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35C5A9-1B74-4770-9733-2690EB2AA7D4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3AD16B-A346-45C0-8D88-024CC56672F5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4D43F9-3C16-440E-BA76-D12C5C8937BD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32E78B-327C-48BB-B91D-AE61B8A5CE93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3A25603-78BE-4037-B439-F3BA9B05AF67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3913DFE-74E7-4B6C-B4CD-D04D2A2B11BB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09DEC1-1A91-4A02-A66F-3C37BC9C869A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B092324-6C8F-43AA-BA65-4E48AE52E2A8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20F58A-AFB7-4498-82E2-127B8BF27347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5BE3F29-0190-40A0-9659-48C2EBF0AF42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F042CF-69E2-4EAC-BFCF-A00CE393ECF9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5AD432-4A2B-4069-8CF3-974F95560D11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8C25BDF-E2E2-40C9-AF4C-E35190981EFE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A61F043-4EC4-41DA-AC29-46E8E61C2F98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340615-8D9F-43EA-9239-36F3E9780636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99EB7E-21F7-4E9D-8452-A6E71D2EB65C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96FDDD-0201-4603-88FB-52335EBFA89C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6F7194D-E213-4BF2-B2D6-F6505D0031F1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2935868-AEB9-46B5-8E49-7F9B0114CEB3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D9D187-C5AB-4940-8079-AA7DFD70143B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B80CB2-0765-463D-9E21-D5FDACE31AFE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7C6D37E-A35D-4D92-BE71-A6DDD721BA24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0933B53-98E2-4321-98AE-950401D5159C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69B9E5-291B-4364-996B-9D4C0E3F335D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ACD7563-9A29-42F8-BF1B-CD5C7310A720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3360BD-46BB-4BFB-BA12-AD195E45EE30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0F21FFE-634F-459B-9B85-B34139170DBE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0651638-7360-44D4-9FAF-0B2B80174835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6C725F-16DE-47F5-A9F8-E3D1276DC4C1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DB24134-4C0D-4948-B79E-1B4BC82885A4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D9139A-1E0B-4F4E-B72D-64DFEE4651BF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7FAA80C-C6C4-425D-9751-39FCF2B284A6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8B4C50-B98A-4A41-A728-BCC312EF9264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DF74FE2-BB64-4794-A20D-D0C8B478A7FD}"/>
              </a:ext>
            </a:extLst>
          </p:cNvPr>
          <p:cNvSpPr>
            <a:spLocks noGrp="1"/>
          </p:cNvSpPr>
          <p:nvPr/>
        </p:nvSpPr>
        <p:spPr>
          <a:xfrm>
            <a:off x="6991350" y="2495550"/>
            <a:ext cx="3752850" cy="19050"/>
          </a:xfrm>
          <a:prstGeom prst="rect">
            <a:avLst/>
          </a:prstGeom>
          <a:solidFill>
            <a:srgbClr val="17374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E7D685-377E-455A-81A3-44C28BF9C8D1}"/>
              </a:ext>
            </a:extLst>
          </p:cNvPr>
          <p:cNvSpPr>
            <a:spLocks noGrp="1"/>
          </p:cNvSpPr>
          <p:nvPr/>
        </p:nvSpPr>
        <p:spPr>
          <a:xfrm>
            <a:off x="6991350" y="2495550"/>
            <a:ext cx="19050" cy="2552700"/>
          </a:xfrm>
          <a:prstGeom prst="rect">
            <a:avLst/>
          </a:prstGeom>
          <a:solidFill>
            <a:srgbClr val="17374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AC6F441-6E30-4E17-BA3A-D75EAA86386D}"/>
              </a:ext>
            </a:extLst>
          </p:cNvPr>
          <p:cNvSpPr>
            <a:spLocks noGrp="1"/>
          </p:cNvSpPr>
          <p:nvPr/>
        </p:nvSpPr>
        <p:spPr>
          <a:xfrm>
            <a:off x="6991350" y="3324225"/>
            <a:ext cx="3752850" cy="9525"/>
          </a:xfrm>
          <a:prstGeom prst="rect">
            <a:avLst/>
          </a:prstGeom>
          <a:solidFill>
            <a:srgbClr val="173746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3E05237-ACD6-4935-8EFD-317E20E58B73}"/>
              </a:ext>
            </a:extLst>
          </p:cNvPr>
          <p:cNvSpPr>
            <a:spLocks noGrp="1"/>
          </p:cNvSpPr>
          <p:nvPr/>
        </p:nvSpPr>
        <p:spPr>
          <a:xfrm>
            <a:off x="6991350" y="4152900"/>
            <a:ext cx="3752850" cy="9525"/>
          </a:xfrm>
          <a:prstGeom prst="rect">
            <a:avLst/>
          </a:prstGeom>
          <a:solidFill>
            <a:srgbClr val="173746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DEBDCB3-70F1-42A6-827D-C6883259DE9B}"/>
              </a:ext>
            </a:extLst>
          </p:cNvPr>
          <p:cNvSpPr>
            <a:spLocks noGrp="1"/>
          </p:cNvSpPr>
          <p:nvPr/>
        </p:nvSpPr>
        <p:spPr>
          <a:xfrm>
            <a:off x="8248650" y="2495550"/>
            <a:ext cx="9525" cy="2552700"/>
          </a:xfrm>
          <a:prstGeom prst="rect">
            <a:avLst/>
          </a:prstGeom>
          <a:solidFill>
            <a:srgbClr val="173746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7608ABF-C40D-4956-9089-D1EB91A1666F}"/>
              </a:ext>
            </a:extLst>
          </p:cNvPr>
          <p:cNvSpPr>
            <a:spLocks noGrp="1"/>
          </p:cNvSpPr>
          <p:nvPr/>
        </p:nvSpPr>
        <p:spPr>
          <a:xfrm>
            <a:off x="9505950" y="2495550"/>
            <a:ext cx="9525" cy="2552700"/>
          </a:xfrm>
          <a:prstGeom prst="rect">
            <a:avLst/>
          </a:prstGeom>
          <a:solidFill>
            <a:srgbClr val="173746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4DDD28-8CC5-4C1C-8AAB-3EFB2E548E6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MECHANICS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00E5621-2E0B-4EAC-9BC9-A4151D4B044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03 / 07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FA31E3-CF66-44A1-9DE4-BB93B1BED144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9F0BD91-9657-424F-82C3-31C493A0763F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4F7130E-1325-423E-8190-0BB71388C6A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유사성은 거리와 방향으로 읽힌다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445E4C5-C989-444F-B226-E0DBDB95E6AF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>
                <a:solidFill>
                  <a:srgbClr val="344450"/>
                </a:solidFill>
              </a:rPr>
              <a:t>벡터 간 관계는 유클리드 거리, 코사인 유사도, 점곱 같은 방식으로 비교할 수 있다.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6E76874-4073-425E-9016-AE57B792418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562600" cy="2990850"/>
          </a:xfrm>
          <a:prstGeom prst="roundRect">
            <a:avLst>
              <a:gd name="adj" fmla="val 2548"/>
            </a:avLst>
          </a:prstGeom>
          <a:solidFill>
            <a:srgbClr val="FFFFFF">
              <a:alpha val="78431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CC7A55-223E-42B0-B6A2-CEAD701B99E9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5010150" cy="215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1. 입력 데이터는 고차원일 수 있지만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 모델은 이를 n차원 좌표로 읽는다.</a:t>
            </a:r>
          </a:p>
          <a:p>
            <a:endParaRPr sz="1350" b="0">
              <a:solidFill>
                <a:srgbClr val="10212B"/>
              </a:solidFill>
            </a:endParaRP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2. 다른 벡터와의 거리와 방향을 비교해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 유사한 항목을 찾는다.</a:t>
            </a:r>
          </a:p>
          <a:p>
            <a:endParaRPr sz="1350" b="0">
              <a:solidFill>
                <a:srgbClr val="10212B"/>
              </a:solidFill>
            </a:endParaRP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3. IBM 예시처럼 '아빠'와 '아버지'는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 '엄마'보다 더 가깝게 배치될 수 있다.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8F61F42-833C-4389-A347-931D3C26D24F}"/>
              </a:ext>
            </a:extLst>
          </p:cNvPr>
          <p:cNvSpPr>
            <a:spLocks noGrp="1"/>
          </p:cNvSpPr>
          <p:nvPr/>
        </p:nvSpPr>
        <p:spPr>
          <a:xfrm>
            <a:off x="6724650" y="2247900"/>
            <a:ext cx="4324350" cy="3162300"/>
          </a:xfrm>
          <a:prstGeom prst="roundRect">
            <a:avLst>
              <a:gd name="adj" fmla="val 2410"/>
            </a:avLst>
          </a:prstGeom>
          <a:solidFill>
            <a:srgbClr val="FFFFFF">
              <a:alpha val="78431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2B2096-431E-44BD-9DAF-F88B73F2F33D}"/>
              </a:ext>
            </a:extLst>
          </p:cNvPr>
          <p:cNvSpPr>
            <a:spLocks noGrp="1"/>
          </p:cNvSpPr>
          <p:nvPr/>
        </p:nvSpPr>
        <p:spPr>
          <a:xfrm>
            <a:off x="7010400" y="24574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A5A6"/>
                </a:solidFill>
              </a:defRPr>
            </a:pPr>
            <a:r>
              <a:rPr sz="1125" b="1">
                <a:solidFill>
                  <a:srgbClr val="0FA5A6"/>
                </a:solidFill>
              </a:rPr>
              <a:t>예시 벡터 맵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E9A2868-4A8B-4FE9-B976-B8A84B7C4D02}"/>
              </a:ext>
            </a:extLst>
          </p:cNvPr>
          <p:cNvSpPr>
            <a:spLocks noGrp="1"/>
          </p:cNvSpPr>
          <p:nvPr/>
        </p:nvSpPr>
        <p:spPr>
          <a:xfrm>
            <a:off x="7734300" y="3543300"/>
            <a:ext cx="285750" cy="285750"/>
          </a:xfrm>
          <a:prstGeom prst="ellipse">
            <a:avLst/>
          </a:prstGeom>
          <a:solidFill>
            <a:srgbClr val="0FA5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B880423-6B19-4A15-847F-8C301E8BFEFF}"/>
              </a:ext>
            </a:extLst>
          </p:cNvPr>
          <p:cNvSpPr>
            <a:spLocks noGrp="1"/>
          </p:cNvSpPr>
          <p:nvPr/>
        </p:nvSpPr>
        <p:spPr>
          <a:xfrm>
            <a:off x="7639050" y="39052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아빠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0297406-DAE2-4348-AC12-530861D2D436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323850" cy="323850"/>
          </a:xfrm>
          <a:prstGeom prst="ellipse">
            <a:avLst/>
          </a:prstGeom>
          <a:solidFill>
            <a:srgbClr val="43C3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33A69D8-CAC5-418B-ACD2-C63463BD98CB}"/>
              </a:ext>
            </a:extLst>
          </p:cNvPr>
          <p:cNvSpPr>
            <a:spLocks noGrp="1"/>
          </p:cNvSpPr>
          <p:nvPr/>
        </p:nvSpPr>
        <p:spPr>
          <a:xfrm>
            <a:off x="8305800" y="36957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아버지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E623537-E642-429C-9CD6-5907694003FB}"/>
              </a:ext>
            </a:extLst>
          </p:cNvPr>
          <p:cNvSpPr>
            <a:spLocks noGrp="1"/>
          </p:cNvSpPr>
          <p:nvPr/>
        </p:nvSpPr>
        <p:spPr>
          <a:xfrm>
            <a:off x="9696450" y="4038600"/>
            <a:ext cx="285750" cy="285750"/>
          </a:xfrm>
          <a:prstGeom prst="ellipse">
            <a:avLst/>
          </a:prstGeom>
          <a:solidFill>
            <a:srgbClr val="F1816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350AEC-E9E1-4A8D-B706-400B3DF5F5F7}"/>
              </a:ext>
            </a:extLst>
          </p:cNvPr>
          <p:cNvSpPr>
            <a:spLocks noGrp="1"/>
          </p:cNvSpPr>
          <p:nvPr/>
        </p:nvSpPr>
        <p:spPr>
          <a:xfrm>
            <a:off x="9601200" y="44005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0212B"/>
                </a:solidFill>
              </a:defRPr>
            </a:pPr>
            <a:r>
              <a:rPr sz="900" b="0">
                <a:solidFill>
                  <a:srgbClr val="10212B"/>
                </a:solidFill>
              </a:rPr>
              <a:t>엄마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774DF03-0028-4AEC-AE6D-FBF28A21E22F}"/>
              </a:ext>
            </a:extLst>
          </p:cNvPr>
          <p:cNvSpPr>
            <a:spLocks noGrp="1"/>
          </p:cNvSpPr>
          <p:nvPr/>
        </p:nvSpPr>
        <p:spPr>
          <a:xfrm>
            <a:off x="8058150" y="3714750"/>
            <a:ext cx="704850" cy="19050"/>
          </a:xfrm>
          <a:prstGeom prst="rect">
            <a:avLst/>
          </a:prstGeom>
          <a:solidFill>
            <a:srgbClr val="0FA5A6">
              <a:alpha val="4470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CD7A9C8-34B5-4A5C-A26A-BE63FEEE30A5}"/>
              </a:ext>
            </a:extLst>
          </p:cNvPr>
          <p:cNvSpPr>
            <a:spLocks noGrp="1"/>
          </p:cNvSpPr>
          <p:nvPr/>
        </p:nvSpPr>
        <p:spPr>
          <a:xfrm>
            <a:off x="8724900" y="3695700"/>
            <a:ext cx="1162050" cy="19050"/>
          </a:xfrm>
          <a:prstGeom prst="rect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057E96-7E2C-475A-959C-2FCA54F98BE9}"/>
              </a:ext>
            </a:extLst>
          </p:cNvPr>
          <p:cNvSpPr>
            <a:spLocks noGrp="1"/>
          </p:cNvSpPr>
          <p:nvPr/>
        </p:nvSpPr>
        <p:spPr>
          <a:xfrm>
            <a:off x="7505700" y="4857750"/>
            <a:ext cx="1638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44450"/>
                </a:solidFill>
              </a:defRPr>
            </a:pPr>
            <a:r>
              <a:rPr sz="975" b="0">
                <a:solidFill>
                  <a:srgbClr val="344450"/>
                </a:solidFill>
              </a:rPr>
              <a:t>가까울수록 의미도 유사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C6174A7-19AC-4D6D-ADEF-DAF34663EE16}"/>
              </a:ext>
            </a:extLst>
          </p:cNvPr>
          <p:cNvSpPr>
            <a:spLocks noGrp="1"/>
          </p:cNvSpPr>
          <p:nvPr/>
        </p:nvSpPr>
        <p:spPr>
          <a:xfrm>
            <a:off x="7067550" y="56197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FFF8EC"/>
          </a:solidFill>
          <a:ln w="11430">
            <a:solidFill>
              <a:srgbClr val="D4A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6FAC7F8-1BA1-4AE0-9AB2-2A0621206799}"/>
              </a:ext>
            </a:extLst>
          </p:cNvPr>
          <p:cNvSpPr>
            <a:spLocks noGrp="1"/>
          </p:cNvSpPr>
          <p:nvPr/>
        </p:nvSpPr>
        <p:spPr>
          <a:xfrm>
            <a:off x="7200900" y="56864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4A64B"/>
                </a:solidFill>
              </a:defRPr>
            </a:pPr>
            <a:r>
              <a:rPr sz="900" b="1">
                <a:solidFill>
                  <a:srgbClr val="D4A64B"/>
                </a:solidFill>
              </a:rPr>
              <a:t>유클리드 거리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9B3694B1-1E6B-4B38-9D92-A299B34EE344}"/>
              </a:ext>
            </a:extLst>
          </p:cNvPr>
          <p:cNvSpPr>
            <a:spLocks noGrp="1"/>
          </p:cNvSpPr>
          <p:nvPr/>
        </p:nvSpPr>
        <p:spPr>
          <a:xfrm>
            <a:off x="8439150" y="56197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F4FBFB"/>
          </a:solidFill>
          <a:ln w="11430">
            <a:solidFill>
              <a:srgbClr val="0F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5613237-3830-4A8E-8DEC-33AB4A70D89B}"/>
              </a:ext>
            </a:extLst>
          </p:cNvPr>
          <p:cNvSpPr>
            <a:spLocks noGrp="1"/>
          </p:cNvSpPr>
          <p:nvPr/>
        </p:nvSpPr>
        <p:spPr>
          <a:xfrm>
            <a:off x="8572500" y="56864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A5A6"/>
                </a:solidFill>
              </a:defRPr>
            </a:pPr>
            <a:r>
              <a:rPr sz="900" b="1">
                <a:solidFill>
                  <a:srgbClr val="0FA5A6"/>
                </a:solidFill>
              </a:rPr>
              <a:t>코사인 유사도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860BB3C-80B3-4441-AD73-05C6CBF1AD93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857250" cy="323850"/>
          </a:xfrm>
          <a:prstGeom prst="roundRect">
            <a:avLst>
              <a:gd name="adj" fmla="val 23529"/>
            </a:avLst>
          </a:prstGeom>
          <a:solidFill>
            <a:srgbClr val="FFF7F3"/>
          </a:solidFill>
          <a:ln w="11430">
            <a:solidFill>
              <a:srgbClr val="F181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1C8A3CB-20B2-4737-AEA8-A13AD534D4E6}"/>
              </a:ext>
            </a:extLst>
          </p:cNvPr>
          <p:cNvSpPr>
            <a:spLocks noGrp="1"/>
          </p:cNvSpPr>
          <p:nvPr/>
        </p:nvSpPr>
        <p:spPr>
          <a:xfrm>
            <a:off x="9944100" y="5686425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18168"/>
                </a:solidFill>
              </a:defRPr>
            </a:pPr>
            <a:r>
              <a:rPr sz="900" b="1">
                <a:solidFill>
                  <a:srgbClr val="F18168"/>
                </a:solidFill>
              </a:rPr>
              <a:t>점곱</a:t>
            </a:r>
          </a:p>
        </p:txBody>
      </p:sp>
    </p:spTree>
    <p:extLst>
      <p:ext uri="{BB962C8B-B14F-4D97-AF65-F5344CB8AC3E}">
        <p14:creationId xmlns:p14="http://schemas.microsoft.com/office/powerpoint/2010/main" val="165769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7E962FA-A74C-4102-9242-E78727415E6C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46F835-B44E-43E0-82F5-C520D260AF95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729C45-4FC7-49AF-8F5E-8E623E40E093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28F63C-8B1F-4942-BC8D-6972D2DB480B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73F956-74B5-4E85-8881-C7C7E3C66AB8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003818-AC1B-4D50-AE00-914014D7C44A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21C256-DF3D-434A-ADB2-1016C9AA3C86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3C5166-DBBA-4057-88EC-FA8429DB3B60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6FB753-0916-4402-9E4B-A03B4839291B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8A8460-9A45-40F1-A8F3-1E32A08C4A47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E6E598-6588-4849-9C87-F8175760B49F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771296-0E12-455A-A717-BAA4F6960D3F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5AD6A7-FB6B-4D85-BD75-4D9FC58C868B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21417B-1BE0-40E8-B117-2C9FF23B89CC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AD8F5F-120E-4A33-A84B-7C317ED00BC6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A45EDF-B573-4F44-9348-01D94499BED6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ACAF19-1D80-48B6-8E28-7107C5FB6C7D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44519B-FB7F-47EA-B255-1BD7AE6013B4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C6BE58-0BEF-4E98-BD90-A61D93A11715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D299C6-23A8-4492-AC99-5CE2DC9DC3F0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8B0B61-0966-419A-BDA8-EFE2001969EA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6980F8-ED06-4F57-8FA0-6C13A277FA61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5C1D18-D909-412D-AF18-D96E5FDF4504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205F9A-EFB8-4C54-B15A-840FE49C8F25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4E09BE-BC04-4ACF-8E66-6C395E95145B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2CCC230-3938-43F6-83FA-DD2801DD6736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8DFE18-B192-4C89-B10B-36A09145643B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A64C656-7FB0-4586-94D7-190DDEECD727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0D27EE-AE94-478F-BE4E-72BC04A7687A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9927F5B-BC00-446B-BD71-788A9E7EC4C2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F24F2A-51CC-47F0-8EEB-4F853AAF7369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39160D-91B0-406F-9052-BC8F2A4A71BB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69394EF-81EB-4426-BDF4-B16312AF6D10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5D6E1AF-5943-4043-ADD4-CDD5E553998D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92C653-69BE-4895-8551-D8FA37E0E5E6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3DF294F-52EE-4761-882B-EEE4B22CA506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54EF04E-5E51-4462-910C-5DE85E44DBAE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F2B9147-4C53-4241-A89C-55907261B0ED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D5A295-133D-459B-BF79-4125B13011DA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3A3E11-0207-48D3-8B5C-53E558C6EC4B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8D942F-4F00-4CB5-A122-6AD58A18C391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1941056-3235-4AA9-B0A5-F3AD8F9940C2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4680555-2C31-408F-9848-14521A76E576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8164EBC-C187-4158-9197-895B02514705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C68B79-3B61-4238-AC2D-FC0510724F13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AFB2C7-8D1C-47FC-959F-ECC98A8B1C5E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54EAC2E-9028-4357-B89E-D37EDB44AFD4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42F4451-D728-4BB4-A373-0EEDF2FAF7D5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FE31DA8-7AE4-4CA1-838E-47481BD9028D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15B9392-A692-441D-83CD-57C5B84E509D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EF4C4B8-EC4D-4521-8CF9-F7B9DB58CC61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007D85-BE91-437A-8B86-21D08D2F4851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16A20A-BA04-41BE-B1A8-2BDE3497A5D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VALUE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B55087-0C93-48A1-BD77-BD6635C7666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04 / 07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C557452-EAE6-4599-ADEB-4194D5CEF3BB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0E5BFC1-1E35-4FCD-913E-3FD73D034777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13B0F4-0164-4583-8DD4-8FCBD0606DE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임베딩이 중요한 다섯 가지 이유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4AB3E21-2FDA-46D4-A515-8C69050B50A1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 dirty="0" err="1">
                <a:solidFill>
                  <a:srgbClr val="344450"/>
                </a:solidFill>
              </a:rPr>
              <a:t>임베딩은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이해와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계산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효율을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동시에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높인다</a:t>
            </a:r>
            <a:r>
              <a:rPr sz="1350" b="0" dirty="0">
                <a:solidFill>
                  <a:srgbClr val="344450"/>
                </a:solidFill>
              </a:rPr>
              <a:t>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26F91A9-5513-4678-93EC-5A45D21A0C47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3257550" cy="1200150"/>
          </a:xfrm>
          <a:prstGeom prst="roundRect">
            <a:avLst>
              <a:gd name="adj" fmla="val 634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317601-C46F-40B1-8B43-69BF3CBD8973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76200" cy="1200150"/>
          </a:xfrm>
          <a:prstGeom prst="rect">
            <a:avLst/>
          </a:prstGeom>
          <a:solidFill>
            <a:srgbClr val="0FA5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4BEDF8F-55BD-442A-8D33-E0E47D0681B6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A5A6"/>
                </a:solidFill>
              </a:defRPr>
            </a:pPr>
            <a:r>
              <a:rPr sz="1200" b="1">
                <a:solidFill>
                  <a:srgbClr val="0FA5A6"/>
                </a:solidFill>
              </a:rPr>
              <a:t>의미론적 표현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30BAF70-3D02-4D15-B099-1BA7CD16DF79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단어·이미지·노드 사이의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관계와 의미를 더 풍부하게 담는다.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FD360C2-DD23-43D0-9530-E1A0CC8C7710}"/>
              </a:ext>
            </a:extLst>
          </p:cNvPr>
          <p:cNvSpPr>
            <a:spLocks noGrp="1"/>
          </p:cNvSpPr>
          <p:nvPr/>
        </p:nvSpPr>
        <p:spPr>
          <a:xfrm>
            <a:off x="4095750" y="2628900"/>
            <a:ext cx="3257550" cy="1200150"/>
          </a:xfrm>
          <a:prstGeom prst="roundRect">
            <a:avLst>
              <a:gd name="adj" fmla="val 634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82E9EB1-0F6F-4A2E-AA9E-1563086B1BFB}"/>
              </a:ext>
            </a:extLst>
          </p:cNvPr>
          <p:cNvSpPr>
            <a:spLocks noGrp="1"/>
          </p:cNvSpPr>
          <p:nvPr/>
        </p:nvSpPr>
        <p:spPr>
          <a:xfrm>
            <a:off x="4095750" y="2628900"/>
            <a:ext cx="76200" cy="1200150"/>
          </a:xfrm>
          <a:prstGeom prst="rect">
            <a:avLst/>
          </a:prstGeom>
          <a:solidFill>
            <a:srgbClr val="F181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A01E261-5C14-4141-911E-74F3D7F89D89}"/>
              </a:ext>
            </a:extLst>
          </p:cNvPr>
          <p:cNvSpPr>
            <a:spLocks noGrp="1"/>
          </p:cNvSpPr>
          <p:nvPr/>
        </p:nvSpPr>
        <p:spPr>
          <a:xfrm>
            <a:off x="4324350" y="28194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8168"/>
                </a:solidFill>
              </a:defRPr>
            </a:pPr>
            <a:r>
              <a:rPr sz="1200" b="1">
                <a:solidFill>
                  <a:srgbClr val="F18168"/>
                </a:solidFill>
              </a:rPr>
              <a:t>차원 축소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FA86D9-B533-4544-8869-1FCEB1880634}"/>
              </a:ext>
            </a:extLst>
          </p:cNvPr>
          <p:cNvSpPr>
            <a:spLocks noGrp="1"/>
          </p:cNvSpPr>
          <p:nvPr/>
        </p:nvSpPr>
        <p:spPr>
          <a:xfrm>
            <a:off x="4324350" y="318135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고차원 데이터를 더 다루기 쉬운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연속 표현으로 바꿔 계산을 가볍게 한다.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473D93B-A5B2-49DE-8E30-4E59D7D7180D}"/>
              </a:ext>
            </a:extLst>
          </p:cNvPr>
          <p:cNvSpPr>
            <a:spLocks noGrp="1"/>
          </p:cNvSpPr>
          <p:nvPr/>
        </p:nvSpPr>
        <p:spPr>
          <a:xfrm>
            <a:off x="7581900" y="2628900"/>
            <a:ext cx="3257550" cy="1200150"/>
          </a:xfrm>
          <a:prstGeom prst="roundRect">
            <a:avLst>
              <a:gd name="adj" fmla="val 634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F62EB3-269D-49AA-9409-B7B84F5321BA}"/>
              </a:ext>
            </a:extLst>
          </p:cNvPr>
          <p:cNvSpPr>
            <a:spLocks noGrp="1"/>
          </p:cNvSpPr>
          <p:nvPr/>
        </p:nvSpPr>
        <p:spPr>
          <a:xfrm>
            <a:off x="7581900" y="2628900"/>
            <a:ext cx="76200" cy="1200150"/>
          </a:xfrm>
          <a:prstGeom prst="rect">
            <a:avLst/>
          </a:prstGeom>
          <a:solidFill>
            <a:srgbClr val="D4A6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6D58577-50CF-4D13-86EE-FF21132A4A60}"/>
              </a:ext>
            </a:extLst>
          </p:cNvPr>
          <p:cNvSpPr>
            <a:spLocks noGrp="1"/>
          </p:cNvSpPr>
          <p:nvPr/>
        </p:nvSpPr>
        <p:spPr>
          <a:xfrm>
            <a:off x="7810500" y="28194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4A64B"/>
                </a:solidFill>
              </a:defRPr>
            </a:pPr>
            <a:r>
              <a:rPr sz="1200" b="1">
                <a:solidFill>
                  <a:srgbClr val="D4A64B"/>
                </a:solidFill>
              </a:rPr>
              <a:t>일반화 개선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8DFCDE-3986-4736-9C13-60C5A9DC9C52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보지 못한 예시에도 패턴을 이어 읽어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모델의 적용 범위를 넓힌다.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E168B4A-F156-4D77-BCE7-1AEF2A843C70}"/>
              </a:ext>
            </a:extLst>
          </p:cNvPr>
          <p:cNvSpPr>
            <a:spLocks noGrp="1"/>
          </p:cNvSpPr>
          <p:nvPr/>
        </p:nvSpPr>
        <p:spPr>
          <a:xfrm>
            <a:off x="2343150" y="4057650"/>
            <a:ext cx="3257550" cy="1200150"/>
          </a:xfrm>
          <a:prstGeom prst="roundRect">
            <a:avLst>
              <a:gd name="adj" fmla="val 634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B9BDDB-7DA2-475A-8C5D-34684A4AABF4}"/>
              </a:ext>
            </a:extLst>
          </p:cNvPr>
          <p:cNvSpPr>
            <a:spLocks noGrp="1"/>
          </p:cNvSpPr>
          <p:nvPr/>
        </p:nvSpPr>
        <p:spPr>
          <a:xfrm>
            <a:off x="2343150" y="4057650"/>
            <a:ext cx="76200" cy="1200150"/>
          </a:xfrm>
          <a:prstGeom prst="rect">
            <a:avLst/>
          </a:prstGeom>
          <a:solidFill>
            <a:srgbClr val="43C3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4584B80-6B5C-4C5A-9714-FD9A2E1DADF4}"/>
              </a:ext>
            </a:extLst>
          </p:cNvPr>
          <p:cNvSpPr>
            <a:spLocks noGrp="1"/>
          </p:cNvSpPr>
          <p:nvPr/>
        </p:nvSpPr>
        <p:spPr>
          <a:xfrm>
            <a:off x="2571750" y="42481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3C388"/>
                </a:solidFill>
              </a:defRPr>
            </a:pPr>
            <a:r>
              <a:rPr sz="1200" b="1">
                <a:solidFill>
                  <a:srgbClr val="43C388"/>
                </a:solidFill>
              </a:rPr>
              <a:t>시각화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DCE611-3B64-41FD-99C7-DA58EB175C76}"/>
              </a:ext>
            </a:extLst>
          </p:cNvPr>
          <p:cNvSpPr>
            <a:spLocks noGrp="1"/>
          </p:cNvSpPr>
          <p:nvPr/>
        </p:nvSpPr>
        <p:spPr>
          <a:xfrm>
            <a:off x="2571750" y="461010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클러스터와 관계를 2D/3D로 투영해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데이터 구조를 직관적으로 볼 수 있다.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7AC0CA08-BFA4-42DE-BFA7-8F5D2FA9178C}"/>
              </a:ext>
            </a:extLst>
          </p:cNvPr>
          <p:cNvSpPr>
            <a:spLocks noGrp="1"/>
          </p:cNvSpPr>
          <p:nvPr/>
        </p:nvSpPr>
        <p:spPr>
          <a:xfrm>
            <a:off x="5829300" y="4057650"/>
            <a:ext cx="3257550" cy="1200150"/>
          </a:xfrm>
          <a:prstGeom prst="roundRect">
            <a:avLst>
              <a:gd name="adj" fmla="val 634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7176795-4101-404E-9EA7-BEDCC36AA529}"/>
              </a:ext>
            </a:extLst>
          </p:cNvPr>
          <p:cNvSpPr>
            <a:spLocks noGrp="1"/>
          </p:cNvSpPr>
          <p:nvPr/>
        </p:nvSpPr>
        <p:spPr>
          <a:xfrm>
            <a:off x="5829300" y="4057650"/>
            <a:ext cx="76200" cy="1200150"/>
          </a:xfrm>
          <a:prstGeom prst="rect">
            <a:avLst/>
          </a:prstGeom>
          <a:solidFill>
            <a:srgbClr val="72D6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B8CCC1-C727-41E3-A7EF-989E7D000EDB}"/>
              </a:ext>
            </a:extLst>
          </p:cNvPr>
          <p:cNvSpPr>
            <a:spLocks noGrp="1"/>
          </p:cNvSpPr>
          <p:nvPr/>
        </p:nvSpPr>
        <p:spPr>
          <a:xfrm>
            <a:off x="6057900" y="42481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2D6E7"/>
                </a:solidFill>
              </a:defRPr>
            </a:pPr>
            <a:r>
              <a:rPr sz="1200" b="1">
                <a:solidFill>
                  <a:srgbClr val="72D6E7"/>
                </a:solidFill>
              </a:rPr>
              <a:t>효율적 학습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48262F2-0E97-43E4-BC95-37FB7252085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2800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임베딩 레이어가 범주형 입력을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학습 가능한 연속 벡터로 바꿔 준다.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A12963F-C0E0-4138-917E-9347B3D43955}"/>
              </a:ext>
            </a:extLst>
          </p:cNvPr>
          <p:cNvSpPr>
            <a:spLocks noGrp="1"/>
          </p:cNvSpPr>
          <p:nvPr/>
        </p:nvSpPr>
        <p:spPr>
          <a:xfrm>
            <a:off x="9124950" y="5543550"/>
            <a:ext cx="16002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0000"/>
            </a:srgbClr>
          </a:solidFill>
          <a:ln w="11430">
            <a:solidFill>
              <a:srgbClr val="0F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FBED45-5BCE-4109-812C-4A5E95184F02}"/>
              </a:ext>
            </a:extLst>
          </p:cNvPr>
          <p:cNvSpPr>
            <a:spLocks noGrp="1"/>
          </p:cNvSpPr>
          <p:nvPr/>
        </p:nvSpPr>
        <p:spPr>
          <a:xfrm>
            <a:off x="9258300" y="5610225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A5A6"/>
                </a:solidFill>
              </a:defRPr>
            </a:pPr>
            <a:r>
              <a:rPr sz="900" b="1">
                <a:solidFill>
                  <a:srgbClr val="0FA5A6"/>
                </a:solidFill>
              </a:rPr>
              <a:t>표현력 + 효율성</a:t>
            </a:r>
          </a:p>
        </p:txBody>
      </p:sp>
    </p:spTree>
    <p:extLst>
      <p:ext uri="{BB962C8B-B14F-4D97-AF65-F5344CB8AC3E}">
        <p14:creationId xmlns:p14="http://schemas.microsoft.com/office/powerpoint/2010/main" val="37753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02575D2-57A3-4E86-995B-5B3C7CE46FE6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715152-D840-4B88-B264-D4DBC5BA8B19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D5335B-867D-403A-A0F8-450FFE17EC4F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26051B-F268-40D4-B89F-1C078009AF17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132BAA-40EC-443D-86C9-1BC68DFE8FF0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196BD4-E6AD-4DB5-A6F6-7792F8777A5E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F2237-6776-44EE-AEA5-6082C5067890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4D8596-8457-4444-9F6E-0AEA024066C4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64F01C-D461-4779-AD78-0A005CA0DC95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A5FD2-FD63-424D-B594-F96D204BC887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66D638-80A8-4DA0-A8C8-60C6B52BE6A3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5B71C0-E056-4D2B-B9A9-D061D6084C39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64D3FC-D7FF-449A-AAE9-D5991BFE8B68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519A70-FF7B-47F0-9559-704B32207A0D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254086-5707-47DD-B219-097F77978C19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D0CCBDB-B31E-4A57-AF5D-02BA5F8CEC44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6BB362-525C-4DF9-A178-AB826D06BC8D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AA1EC9-F04F-4C1D-BF34-627AFB6AF978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0F99EE-7F3B-4422-94D9-FCFB5495290C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F6BA4C-563A-4E88-92DD-FE0392F0A1D5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6D46F8-E0AF-4D93-80E7-6B0D18BE446C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36CEAF-9C10-410A-8D52-53038DC9CE5F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C0F2F7-7A29-4CD6-A564-5884E0C4C6AE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20EDCD4-78A9-428C-8D92-5A9F4529FC16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8271B4-0463-4CEB-9254-AE21F3D1BD6A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5228B0-751C-42DD-BFA2-5DE68488A244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01AEB3F-CE72-4F18-95D7-9CD4F915B560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7B21E4-E106-4D9D-9518-BB8D824D41D6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6EDCA3-FB47-46E2-A8D4-4EF6D0B3DB86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DA47AA-BE35-4881-B994-2B0D768EF239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6199BC-9622-4514-962F-A27AD2B62D07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E2DF62F-F20D-447D-AE73-267D01DEE97B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6F7FF-F364-4519-9E57-0E8738CF5FB3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AA7D38-BB6B-4352-959F-5DC073939C15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2CEE2-DCB8-439C-94EA-C07A69553382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0EED1A-82E8-449E-A15C-9FC27BE75A2F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84034B-AE87-4299-92B7-B82AB9D844CC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C89FC16-004E-464D-BD2C-EEBC7B85A506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F0B3362-E507-4168-8A0D-560E11BD996D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84E90DC-FDE0-4B3C-8157-8CA8B4DE2009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043C869-F8D4-4D84-BA92-10AD7C38201C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FD6886-7FD7-40B5-9A9B-0BB4065D6DB8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4556AFA-76AC-45C9-962C-A779B0D5CA5C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E18931-D4F5-406F-B2A5-90A3E0287B4A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9CA4899-C6C9-4C60-92C7-1786BE89B312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254BCAF-0BBC-4155-9FA0-948522783318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F20B4BF-BCA5-4EC5-88F0-789041EA040A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091E02E-76C3-46F7-9676-798FA25BFAA4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89DB4C1-6495-41D2-84AB-A597434F7C55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2EEAF4A-46DC-40D9-8F05-85A98E876155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99BFDCF-D950-4AB6-938D-3AF9A2DF38C8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3CCC24F-62A8-4299-9C65-41B15D29415B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F38D2E-934B-444A-A1CF-ED14BF28D6C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MODALITIES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9384E5-87B6-4138-A377-FD38CDE3BEE1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05 / 07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8E9D45-8E3F-41B6-9242-CC9E2D808382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F85A5D0-32B4-4B5C-A10B-0E7BE179EBCE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73D236-46B5-45CE-BFA3-6B3E398A86A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단어에서 그래프까지</a:t>
            </a:r>
          </a:p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거의 모든 객체를 임베딩할 수 있다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8FC6B7D-7F7D-4F34-97F4-7E1B0BAE5137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>
                <a:solidFill>
                  <a:srgbClr val="344450"/>
                </a:solidFill>
              </a:rPr>
              <a:t>데이터 타입이 달라도 목표는 같다. 의미 있는 관계를 보존한 표현을 만드는 것이다.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4B94D2A-06F6-4B20-9F7E-3D8C94F788CC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2038350" cy="1619250"/>
          </a:xfrm>
          <a:prstGeom prst="roundRect">
            <a:avLst>
              <a:gd name="adj" fmla="val 4706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4DB718-DE7C-4734-B790-3D903988D8D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76200" cy="1619250"/>
          </a:xfrm>
          <a:prstGeom prst="rect">
            <a:avLst/>
          </a:prstGeom>
          <a:solidFill>
            <a:srgbClr val="0FA5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466B3B7-C234-46D4-8262-1C6781E3531A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A5A6"/>
                </a:solidFill>
              </a:defRPr>
            </a:pPr>
            <a:r>
              <a:rPr sz="1200" b="1">
                <a:solidFill>
                  <a:srgbClr val="0FA5A6"/>
                </a:solidFill>
              </a:rPr>
              <a:t>단어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5932A0-C802-49DE-BA5A-62E524B8385C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Word2Vec, GloVe, FastText처럼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단어의 의미 관계와 문맥을 담는다.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AF22EB7-F167-4495-BCA5-AD346EFAF1EC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038350" cy="1619250"/>
          </a:xfrm>
          <a:prstGeom prst="roundRect">
            <a:avLst>
              <a:gd name="adj" fmla="val 4706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26CDB83-0756-4E99-9FA7-7F816631C8DE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76200" cy="1619250"/>
          </a:xfrm>
          <a:prstGeom prst="rect">
            <a:avLst/>
          </a:prstGeom>
          <a:solidFill>
            <a:srgbClr val="F181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52DFF6-17A9-4A2B-AF5A-3732CE4E1707}"/>
              </a:ext>
            </a:extLst>
          </p:cNvPr>
          <p:cNvSpPr>
            <a:spLocks noGrp="1"/>
          </p:cNvSpPr>
          <p:nvPr/>
        </p:nvSpPr>
        <p:spPr>
          <a:xfrm>
            <a:off x="3048000" y="2914650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8168"/>
                </a:solidFill>
              </a:defRPr>
            </a:pPr>
            <a:r>
              <a:rPr sz="1200" b="1">
                <a:solidFill>
                  <a:srgbClr val="F18168"/>
                </a:solidFill>
              </a:rPr>
              <a:t>텍스트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9301B77-FCF6-41C9-BD3D-290546F5F5EC}"/>
              </a:ext>
            </a:extLst>
          </p:cNvPr>
          <p:cNvSpPr>
            <a:spLocks noGrp="1"/>
          </p:cNvSpPr>
          <p:nvPr/>
        </p:nvSpPr>
        <p:spPr>
          <a:xfrm>
            <a:off x="3048000" y="327660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문장·단락·문서를 하나의 벡터로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표현해 검색과 분류에 활용한다.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0C6170B-AFA5-46A0-AFEC-CBD01B4B3ECE}"/>
              </a:ext>
            </a:extLst>
          </p:cNvPr>
          <p:cNvSpPr>
            <a:spLocks noGrp="1"/>
          </p:cNvSpPr>
          <p:nvPr/>
        </p:nvSpPr>
        <p:spPr>
          <a:xfrm>
            <a:off x="5029200" y="2724150"/>
            <a:ext cx="2038350" cy="1619250"/>
          </a:xfrm>
          <a:prstGeom prst="roundRect">
            <a:avLst>
              <a:gd name="adj" fmla="val 4706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BA8385F-47C0-4CCA-B27D-11AB8A0D3E2D}"/>
              </a:ext>
            </a:extLst>
          </p:cNvPr>
          <p:cNvSpPr>
            <a:spLocks noGrp="1"/>
          </p:cNvSpPr>
          <p:nvPr/>
        </p:nvSpPr>
        <p:spPr>
          <a:xfrm>
            <a:off x="5029200" y="2724150"/>
            <a:ext cx="76200" cy="1619250"/>
          </a:xfrm>
          <a:prstGeom prst="rect">
            <a:avLst/>
          </a:prstGeom>
          <a:solidFill>
            <a:srgbClr val="D4A6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E76D804-422B-478A-970A-F6CEE98E36E0}"/>
              </a:ext>
            </a:extLst>
          </p:cNvPr>
          <p:cNvSpPr>
            <a:spLocks noGrp="1"/>
          </p:cNvSpPr>
          <p:nvPr/>
        </p:nvSpPr>
        <p:spPr>
          <a:xfrm>
            <a:off x="5257800" y="2914650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4A64B"/>
                </a:solidFill>
              </a:defRPr>
            </a:pPr>
            <a:r>
              <a:rPr sz="1200" b="1">
                <a:solidFill>
                  <a:srgbClr val="D4A64B"/>
                </a:solidFill>
              </a:rPr>
              <a:t>이미지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E8B9F49-3602-4CC6-AB2C-978644F5B729}"/>
              </a:ext>
            </a:extLst>
          </p:cNvPr>
          <p:cNvSpPr>
            <a:spLocks noGrp="1"/>
          </p:cNvSpPr>
          <p:nvPr/>
        </p:nvSpPr>
        <p:spPr>
          <a:xfrm>
            <a:off x="5257800" y="327660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시각 특징을 압축해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분류·검색·인식 작업에 쓴다.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12DE287-173E-4E34-B364-A5F7FA27C71F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2038350" cy="1619250"/>
          </a:xfrm>
          <a:prstGeom prst="roundRect">
            <a:avLst>
              <a:gd name="adj" fmla="val 4706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6F032C5-4391-43B0-AE6A-C9CB9E9973A4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76200" cy="1619250"/>
          </a:xfrm>
          <a:prstGeom prst="rect">
            <a:avLst/>
          </a:prstGeom>
          <a:solidFill>
            <a:srgbClr val="43C3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F2244D-1964-4212-B36D-81E9BD91A98D}"/>
              </a:ext>
            </a:extLst>
          </p:cNvPr>
          <p:cNvSpPr>
            <a:spLocks noGrp="1"/>
          </p:cNvSpPr>
          <p:nvPr/>
        </p:nvSpPr>
        <p:spPr>
          <a:xfrm>
            <a:off x="7467600" y="2914650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3C388"/>
                </a:solidFill>
              </a:defRPr>
            </a:pPr>
            <a:r>
              <a:rPr sz="1200" b="1">
                <a:solidFill>
                  <a:srgbClr val="43C388"/>
                </a:solidFill>
              </a:rPr>
              <a:t>오디오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9BC5459-53DC-4FB9-A240-BCF8A02C22BE}"/>
              </a:ext>
            </a:extLst>
          </p:cNvPr>
          <p:cNvSpPr>
            <a:spLocks noGrp="1"/>
          </p:cNvSpPr>
          <p:nvPr/>
        </p:nvSpPr>
        <p:spPr>
          <a:xfrm>
            <a:off x="7467600" y="327660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음성·음향 특징을 벡터화해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인식과 분류 작업을 돕는다.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EDDCCB7-2152-4123-BCC7-09BCA67D4306}"/>
              </a:ext>
            </a:extLst>
          </p:cNvPr>
          <p:cNvSpPr>
            <a:spLocks noGrp="1"/>
          </p:cNvSpPr>
          <p:nvPr/>
        </p:nvSpPr>
        <p:spPr>
          <a:xfrm>
            <a:off x="9448800" y="2724150"/>
            <a:ext cx="2038350" cy="1619250"/>
          </a:xfrm>
          <a:prstGeom prst="roundRect">
            <a:avLst>
              <a:gd name="adj" fmla="val 4706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4B9B47-BFCA-4472-B52A-F47DD2BF8DC8}"/>
              </a:ext>
            </a:extLst>
          </p:cNvPr>
          <p:cNvSpPr>
            <a:spLocks noGrp="1"/>
          </p:cNvSpPr>
          <p:nvPr/>
        </p:nvSpPr>
        <p:spPr>
          <a:xfrm>
            <a:off x="9448800" y="2724150"/>
            <a:ext cx="76200" cy="1619250"/>
          </a:xfrm>
          <a:prstGeom prst="rect">
            <a:avLst/>
          </a:prstGeom>
          <a:solidFill>
            <a:srgbClr val="72D6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A16BE58-4FEA-4B74-B123-4A75C9371327}"/>
              </a:ext>
            </a:extLst>
          </p:cNvPr>
          <p:cNvSpPr>
            <a:spLocks noGrp="1"/>
          </p:cNvSpPr>
          <p:nvPr/>
        </p:nvSpPr>
        <p:spPr>
          <a:xfrm>
            <a:off x="9677400" y="2914650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2D6E7"/>
                </a:solidFill>
              </a:defRPr>
            </a:pPr>
            <a:r>
              <a:rPr sz="1200" b="1">
                <a:solidFill>
                  <a:srgbClr val="72D6E7"/>
                </a:solidFill>
              </a:rPr>
              <a:t>그래프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B87386-DAA5-4CA7-AD57-2925EEBF44D4}"/>
              </a:ext>
            </a:extLst>
          </p:cNvPr>
          <p:cNvSpPr>
            <a:spLocks noGrp="1"/>
          </p:cNvSpPr>
          <p:nvPr/>
        </p:nvSpPr>
        <p:spPr>
          <a:xfrm>
            <a:off x="9677400" y="3276600"/>
            <a:ext cx="15811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노드와 링크 구조를 표현해</a:t>
            </a:r>
          </a:p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링크 예측과 커뮤니티 탐지에 쓴다.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62A5F23-8AE4-4B97-BC7A-23DEC9A7FA0D}"/>
              </a:ext>
            </a:extLst>
          </p:cNvPr>
          <p:cNvSpPr>
            <a:spLocks noGrp="1"/>
          </p:cNvSpPr>
          <p:nvPr/>
        </p:nvSpPr>
        <p:spPr>
          <a:xfrm>
            <a:off x="1733550" y="4781550"/>
            <a:ext cx="872490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78431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B4D2F3-0A68-4711-AD3B-56EBCDFF27A5}"/>
              </a:ext>
            </a:extLst>
          </p:cNvPr>
          <p:cNvSpPr>
            <a:spLocks noGrp="1"/>
          </p:cNvSpPr>
          <p:nvPr/>
        </p:nvSpPr>
        <p:spPr>
          <a:xfrm>
            <a:off x="2019300" y="50101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12B"/>
                </a:solidFill>
              </a:defRPr>
            </a:pPr>
            <a:r>
              <a:rPr sz="1275" b="1">
                <a:solidFill>
                  <a:srgbClr val="10212B"/>
                </a:solidFill>
              </a:rPr>
              <a:t>모달리티가 달라도 추상화는 같다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1963310-DAEF-4BE9-A3AB-95CAEC0A51BF}"/>
              </a:ext>
            </a:extLst>
          </p:cNvPr>
          <p:cNvSpPr>
            <a:spLocks noGrp="1"/>
          </p:cNvSpPr>
          <p:nvPr/>
        </p:nvSpPr>
        <p:spPr>
          <a:xfrm>
            <a:off x="2019300" y="53340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450"/>
                </a:solidFill>
              </a:defRPr>
            </a:pPr>
            <a:r>
              <a:rPr sz="1050" b="0">
                <a:solidFill>
                  <a:srgbClr val="344450"/>
                </a:solidFill>
              </a:rPr>
              <a:t>입력 객체 -&gt; 벡터 표현 -&gt; 유사성 기반 작업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AB0169A-51A7-4BFB-9FB4-E76513F2DB5C}"/>
              </a:ext>
            </a:extLst>
          </p:cNvPr>
          <p:cNvSpPr>
            <a:spLocks noGrp="1"/>
          </p:cNvSpPr>
          <p:nvPr/>
        </p:nvSpPr>
        <p:spPr>
          <a:xfrm>
            <a:off x="8591550" y="5048250"/>
            <a:ext cx="1581150" cy="323850"/>
          </a:xfrm>
          <a:prstGeom prst="roundRect">
            <a:avLst>
              <a:gd name="adj" fmla="val 23529"/>
            </a:avLst>
          </a:prstGeom>
          <a:solidFill>
            <a:srgbClr val="F4FBFB"/>
          </a:solidFill>
          <a:ln w="11430">
            <a:solidFill>
              <a:srgbClr val="0F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699FF71-0CCE-46CB-8D3C-250EBA3F8BA2}"/>
              </a:ext>
            </a:extLst>
          </p:cNvPr>
          <p:cNvSpPr>
            <a:spLocks noGrp="1"/>
          </p:cNvSpPr>
          <p:nvPr/>
        </p:nvSpPr>
        <p:spPr>
          <a:xfrm>
            <a:off x="8724900" y="5114925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A5A6"/>
                </a:solidFill>
              </a:defRPr>
            </a:pPr>
            <a:r>
              <a:rPr sz="900" b="1">
                <a:solidFill>
                  <a:srgbClr val="0FA5A6"/>
                </a:solidFill>
              </a:rPr>
              <a:t>공통 목표: 관계 보존</a:t>
            </a:r>
          </a:p>
        </p:txBody>
      </p:sp>
    </p:spTree>
    <p:extLst>
      <p:ext uri="{BB962C8B-B14F-4D97-AF65-F5344CB8AC3E}">
        <p14:creationId xmlns:p14="http://schemas.microsoft.com/office/powerpoint/2010/main" val="1470557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B377B82-8C27-47F1-B485-D46EE28BA613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E1D070-DEE3-401E-9206-CCEEACBD1FA2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DD90A1-06FF-4F35-BAE7-23533CE651A4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DBEB3A-5F25-4527-9323-DED71162164C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437565-1D5B-43BA-A35B-1CC060C3EF4D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0A576C-FDB0-46EF-87A4-8681204C720A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E72D37-2B90-4DCD-8D47-6E216539CF5F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59B33C-3DEE-4385-B20B-D16C3E8AC828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B79FCC-4FEE-4D7F-99EE-EF5667DBC5D7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2855C5-1A05-4EA1-BA6B-E0502F17F485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BCF55-9768-4A83-ACBE-410A6B001DB7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F41DEB-95BD-47B1-AE2E-F59BD3B92194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B0A5EF0-D3D5-4E0C-8E02-8B4A9874190E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51C336-6F87-46A6-B7B8-74280E293E31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B8D768-B516-4BB9-9ADC-764CA28C9052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130DE5-F209-4159-B8A9-E152761378F1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7A6F05-8824-421B-9EAF-4DE999F1AA22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465E06-D4AF-479E-825F-40148B385426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5C1DEF-FC6B-449E-A60E-62DDEF54315E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351FBF-E716-4751-979E-E44251FB2E49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4F61DC-4AB3-4D3C-993B-A9A371179B2B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71D58A-89BA-43BE-A9F0-12E8EF376134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0560F2-92A3-48C9-ACC1-91A26E247B76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18506A-EA22-4322-BE51-041E5523945F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6F8415-8EFE-4A8D-8A26-8F7BA9DB9A5A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263C961-3D12-492B-945B-8B9582185D1F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76CE68-6A2F-4BB9-ABA4-57CB7D760B77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196E61-BD36-4448-AF5C-C56A38E6C6C9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9D5C89-38FE-49F1-BB5C-DB7F731217B5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CCE1419-0AAE-4C24-A25E-706553B257F6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88F9AD-FBC3-4FE9-AB6C-2F5C8000530C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CFB6C7-EFF7-4D25-8ABD-C2B77ADF9627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32E2CC2-C928-425D-8516-BC6B2E2D57A8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3CD5BC-4F21-4318-A915-290A37BD6434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8CDF58-EB0F-4660-82D6-119902725B0A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7A0827-F07A-4217-8630-88444058339B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AF7A4EF-CD8E-43D4-8B5D-1D436C2E05A4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730F0A-E679-4023-81B0-A48B69B5E3BE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0242531-5873-47BF-95C2-FC44BD1EE19A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8B60E34-CB37-46F3-94E2-86052537CEE0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2C1D6A-FB1D-4F18-B588-90199ECD4095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A90042-2706-43FC-BF2E-AC45B910AD63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1CB2207-0371-4B6A-9D8D-0553C7274D18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F9C73B0-AB80-4779-99C4-1F19A9969952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F996A66-1486-4D42-B755-86FE61F2369B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97AD098-B919-4692-ADA9-759A051E3E7F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6FC0DD4-4D6F-43B8-A822-9A16DC87F0A2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FC8F980-A2E7-48DD-807E-6781DBDDC8B1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6741D18-3BC6-4599-978C-B0590C0BA001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A90DB5-7F3E-4AAE-AA86-3A6E26680764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13205E3-DDD7-4E76-A6D0-E1184E5D2332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8A26DA1-D143-492F-A6C3-F09B40F26D99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2E3D2EE-FE84-4B5D-8A58-2232E88378D8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9906000" cy="1028700"/>
          </a:xfrm>
          <a:prstGeom prst="roundRect">
            <a:avLst>
              <a:gd name="adj" fmla="val 7407"/>
            </a:avLst>
          </a:prstGeom>
          <a:solidFill>
            <a:srgbClr val="FFFFFF">
              <a:alpha val="6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914C6B8-06AA-4114-BD9E-7E805CB67AD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PIPELINE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FA52613-3BEB-4DC2-A4AC-C608E367B86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06 / 07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9C7DC6-6D18-4E49-93DB-CE7D0B6E750D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E781FD9-041E-4F8D-9B44-E2D639A01884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A38CDED-95C6-4766-B9F5-1AEB5E3627D9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생성 과정은 모델 선택에서</a:t>
            </a:r>
          </a:p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애플리케이션 통합까지 이어진다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5DBC5A5-B911-4A81-99AB-6EA8E1CB4E1E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 dirty="0" err="1">
                <a:solidFill>
                  <a:srgbClr val="344450"/>
                </a:solidFill>
              </a:rPr>
              <a:t>데이터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타입에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따라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세부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구현은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달라도</a:t>
            </a:r>
            <a:r>
              <a:rPr sz="1350" b="0" dirty="0">
                <a:solidFill>
                  <a:srgbClr val="344450"/>
                </a:solidFill>
              </a:rPr>
              <a:t>, </a:t>
            </a:r>
            <a:r>
              <a:rPr sz="1350" b="0" dirty="0" err="1">
                <a:solidFill>
                  <a:srgbClr val="344450"/>
                </a:solidFill>
              </a:rPr>
              <a:t>전체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흐름은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비슷하다</a:t>
            </a:r>
            <a:r>
              <a:rPr lang="en-US" sz="1350" b="0" dirty="0">
                <a:solidFill>
                  <a:srgbClr val="344450"/>
                </a:solidFill>
              </a:rPr>
              <a:t>.</a:t>
            </a:r>
            <a:endParaRPr sz="1350" b="0" dirty="0">
              <a:solidFill>
                <a:srgbClr val="344450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98F247B-BD7F-4478-A5FF-3551123FDE6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9728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78431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10E4566-B0C3-43E8-A320-E04272B7D8A1}"/>
              </a:ext>
            </a:extLst>
          </p:cNvPr>
          <p:cNvSpPr>
            <a:spLocks noGrp="1"/>
          </p:cNvSpPr>
          <p:nvPr/>
        </p:nvSpPr>
        <p:spPr>
          <a:xfrm>
            <a:off x="876300" y="2933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A5A6"/>
                </a:solidFill>
              </a:defRPr>
            </a:pPr>
            <a:r>
              <a:rPr sz="1200" b="1">
                <a:solidFill>
                  <a:srgbClr val="0FA5A6"/>
                </a:solidFill>
              </a:rPr>
              <a:t>핵심 흐름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5FACA61-3D8F-4DB4-8FC0-BF161FF1F7A7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0363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1) 데이터와 작업에 맞는 모델을 고른다 -&gt; 2) 입력을 모델 형식에 맞게 준비한다 -&gt; 3) 모델을 로드하거나 학습한다 -&gt; 4) 각 객체의 벡터를 생성한다 -&gt; 5) 검색, 추천, 분류 같은 작업에 연결한다.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9F6347-C6BA-4A15-B710-20DFC976B1B2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FFFDF6">
              <a:alpha val="93333"/>
            </a:srgbClr>
          </a:solidFill>
          <a:ln w="10478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AE33FA0-BC61-4F9F-A1F8-96ADB9EE52BE}"/>
              </a:ext>
            </a:extLst>
          </p:cNvPr>
          <p:cNvSpPr>
            <a:spLocks noGrp="1"/>
          </p:cNvSpPr>
          <p:nvPr/>
        </p:nvSpPr>
        <p:spPr>
          <a:xfrm>
            <a:off x="990600" y="4743450"/>
            <a:ext cx="266700" cy="2667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009E18B-CE5D-4E57-A88B-E75F30101CB4}"/>
              </a:ext>
            </a:extLst>
          </p:cNvPr>
          <p:cNvSpPr>
            <a:spLocks noGrp="1"/>
          </p:cNvSpPr>
          <p:nvPr/>
        </p:nvSpPr>
        <p:spPr>
          <a:xfrm>
            <a:off x="1371600" y="4686300"/>
            <a:ext cx="1181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A5A6"/>
                </a:solidFill>
              </a:defRPr>
            </a:pPr>
            <a:r>
              <a:rPr sz="1050" b="1">
                <a:solidFill>
                  <a:srgbClr val="0FA5A6"/>
                </a:solidFill>
              </a:rPr>
              <a:t>모델 선택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17A9636-3DC7-4724-9E7D-DB8ED31A5244}"/>
              </a:ext>
            </a:extLst>
          </p:cNvPr>
          <p:cNvSpPr>
            <a:spLocks noGrp="1"/>
          </p:cNvSpPr>
          <p:nvPr/>
        </p:nvSpPr>
        <p:spPr>
          <a:xfrm>
            <a:off x="1371600" y="4933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Word2Vec,</a:t>
            </a:r>
          </a:p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BERT, CNN 등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5365916-36F0-4ACB-BD65-9BAC99FED2C7}"/>
              </a:ext>
            </a:extLst>
          </p:cNvPr>
          <p:cNvSpPr>
            <a:spLocks noGrp="1"/>
          </p:cNvSpPr>
          <p:nvPr/>
        </p:nvSpPr>
        <p:spPr>
          <a:xfrm>
            <a:off x="2933700" y="4552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FFFDF6">
              <a:alpha val="93333"/>
            </a:srgbClr>
          </a:solidFill>
          <a:ln w="10478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4D18257-7984-4432-9B0E-18384FAB7B7B}"/>
              </a:ext>
            </a:extLst>
          </p:cNvPr>
          <p:cNvSpPr>
            <a:spLocks noGrp="1"/>
          </p:cNvSpPr>
          <p:nvPr/>
        </p:nvSpPr>
        <p:spPr>
          <a:xfrm>
            <a:off x="3086100" y="4743450"/>
            <a:ext cx="266700" cy="266700"/>
          </a:xfrm>
          <a:prstGeom prst="ellipse">
            <a:avLst/>
          </a:prstGeom>
          <a:solidFill>
            <a:srgbClr val="F18168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95AC5AD-B16F-4FAC-A3D8-A3BDA029B6B1}"/>
              </a:ext>
            </a:extLst>
          </p:cNvPr>
          <p:cNvSpPr>
            <a:spLocks noGrp="1"/>
          </p:cNvSpPr>
          <p:nvPr/>
        </p:nvSpPr>
        <p:spPr>
          <a:xfrm>
            <a:off x="3467100" y="4686300"/>
            <a:ext cx="1181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18168"/>
                </a:solidFill>
              </a:defRPr>
            </a:pPr>
            <a:r>
              <a:rPr sz="1050" b="1">
                <a:solidFill>
                  <a:srgbClr val="F18168"/>
                </a:solidFill>
              </a:rPr>
              <a:t>데이터 준비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CE76F2-4092-4D2D-9046-001BB92082B1}"/>
              </a:ext>
            </a:extLst>
          </p:cNvPr>
          <p:cNvSpPr>
            <a:spLocks noGrp="1"/>
          </p:cNvSpPr>
          <p:nvPr/>
        </p:nvSpPr>
        <p:spPr>
          <a:xfrm>
            <a:off x="3467100" y="4933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토큰화,</a:t>
            </a:r>
          </a:p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정규화, 리사이즈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248610E-2882-47EF-AC6B-B9425C9DB527}"/>
              </a:ext>
            </a:extLst>
          </p:cNvPr>
          <p:cNvSpPr>
            <a:spLocks noGrp="1"/>
          </p:cNvSpPr>
          <p:nvPr/>
        </p:nvSpPr>
        <p:spPr>
          <a:xfrm>
            <a:off x="5029200" y="4552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FFFDF6">
              <a:alpha val="93333"/>
            </a:srgbClr>
          </a:solidFill>
          <a:ln w="10478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A04342C-63D0-43AE-856D-100A8C185790}"/>
              </a:ext>
            </a:extLst>
          </p:cNvPr>
          <p:cNvSpPr>
            <a:spLocks noGrp="1"/>
          </p:cNvSpPr>
          <p:nvPr/>
        </p:nvSpPr>
        <p:spPr>
          <a:xfrm>
            <a:off x="5181600" y="4743450"/>
            <a:ext cx="266700" cy="266700"/>
          </a:xfrm>
          <a:prstGeom prst="ellipse">
            <a:avLst/>
          </a:prstGeom>
          <a:solidFill>
            <a:srgbClr val="D4A64B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479735-82A1-414F-AC29-C30A7F340A6B}"/>
              </a:ext>
            </a:extLst>
          </p:cNvPr>
          <p:cNvSpPr>
            <a:spLocks noGrp="1"/>
          </p:cNvSpPr>
          <p:nvPr/>
        </p:nvSpPr>
        <p:spPr>
          <a:xfrm>
            <a:off x="5562600" y="4686300"/>
            <a:ext cx="1181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4A64B"/>
                </a:solidFill>
              </a:defRPr>
            </a:pPr>
            <a:r>
              <a:rPr sz="1050" b="1">
                <a:solidFill>
                  <a:srgbClr val="D4A64B"/>
                </a:solidFill>
              </a:rPr>
              <a:t>로드/학습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AA4362-51CE-4ED7-9DE4-B19E7B5FF338}"/>
              </a:ext>
            </a:extLst>
          </p:cNvPr>
          <p:cNvSpPr>
            <a:spLocks noGrp="1"/>
          </p:cNvSpPr>
          <p:nvPr/>
        </p:nvSpPr>
        <p:spPr>
          <a:xfrm>
            <a:off x="5562600" y="4933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사전학습</a:t>
            </a:r>
          </a:p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가중치 또는 재학습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D295A86-7E57-4DB2-87EF-D70568649890}"/>
              </a:ext>
            </a:extLst>
          </p:cNvPr>
          <p:cNvSpPr>
            <a:spLocks noGrp="1"/>
          </p:cNvSpPr>
          <p:nvPr/>
        </p:nvSpPr>
        <p:spPr>
          <a:xfrm>
            <a:off x="7124700" y="4552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FFFDF6">
              <a:alpha val="93333"/>
            </a:srgbClr>
          </a:solidFill>
          <a:ln w="10478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3ADA954-FE04-4EFE-9D60-6ECE725F0FD7}"/>
              </a:ext>
            </a:extLst>
          </p:cNvPr>
          <p:cNvSpPr>
            <a:spLocks noGrp="1"/>
          </p:cNvSpPr>
          <p:nvPr/>
        </p:nvSpPr>
        <p:spPr>
          <a:xfrm>
            <a:off x="7277100" y="4743450"/>
            <a:ext cx="266700" cy="266700"/>
          </a:xfrm>
          <a:prstGeom prst="ellipse">
            <a:avLst/>
          </a:prstGeom>
          <a:solidFill>
            <a:srgbClr val="43C388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E0AA8FC-581C-44DA-8C96-CD9AC2477D17}"/>
              </a:ext>
            </a:extLst>
          </p:cNvPr>
          <p:cNvSpPr>
            <a:spLocks noGrp="1"/>
          </p:cNvSpPr>
          <p:nvPr/>
        </p:nvSpPr>
        <p:spPr>
          <a:xfrm>
            <a:off x="7658100" y="4686300"/>
            <a:ext cx="1181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3C388"/>
                </a:solidFill>
              </a:defRPr>
            </a:pPr>
            <a:r>
              <a:rPr sz="1050" b="1">
                <a:solidFill>
                  <a:srgbClr val="43C388"/>
                </a:solidFill>
              </a:rPr>
              <a:t>임베딩 생성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8CCDCD-743B-4FF1-BD33-B11F25C46FB5}"/>
              </a:ext>
            </a:extLst>
          </p:cNvPr>
          <p:cNvSpPr>
            <a:spLocks noGrp="1"/>
          </p:cNvSpPr>
          <p:nvPr/>
        </p:nvSpPr>
        <p:spPr>
          <a:xfrm>
            <a:off x="7658100" y="4933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각 객체를</a:t>
            </a:r>
          </a:p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벡터로 변환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F50C341-8F8F-476D-8A0B-BFE8BDD42585}"/>
              </a:ext>
            </a:extLst>
          </p:cNvPr>
          <p:cNvSpPr>
            <a:spLocks noGrp="1"/>
          </p:cNvSpPr>
          <p:nvPr/>
        </p:nvSpPr>
        <p:spPr>
          <a:xfrm>
            <a:off x="9220200" y="4552950"/>
            <a:ext cx="1866900" cy="838200"/>
          </a:xfrm>
          <a:prstGeom prst="roundRect">
            <a:avLst>
              <a:gd name="adj" fmla="val 9091"/>
            </a:avLst>
          </a:prstGeom>
          <a:solidFill>
            <a:srgbClr val="FFFDF6">
              <a:alpha val="93333"/>
            </a:srgbClr>
          </a:solidFill>
          <a:ln w="10478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2D571D8-0DAC-446E-9FC1-3852C59A3F5D}"/>
              </a:ext>
            </a:extLst>
          </p:cNvPr>
          <p:cNvSpPr>
            <a:spLocks noGrp="1"/>
          </p:cNvSpPr>
          <p:nvPr/>
        </p:nvSpPr>
        <p:spPr>
          <a:xfrm>
            <a:off x="9372600" y="4743450"/>
            <a:ext cx="266700" cy="266700"/>
          </a:xfrm>
          <a:prstGeom prst="ellipse">
            <a:avLst/>
          </a:prstGeom>
          <a:solidFill>
            <a:srgbClr val="72D6E7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1ABE8F0-5BC2-4E19-932B-1B1A82B214B6}"/>
              </a:ext>
            </a:extLst>
          </p:cNvPr>
          <p:cNvSpPr>
            <a:spLocks noGrp="1"/>
          </p:cNvSpPr>
          <p:nvPr/>
        </p:nvSpPr>
        <p:spPr>
          <a:xfrm>
            <a:off x="9753600" y="4686300"/>
            <a:ext cx="1181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2D6E7"/>
                </a:solidFill>
              </a:defRPr>
            </a:pPr>
            <a:r>
              <a:rPr sz="1050" b="1">
                <a:solidFill>
                  <a:srgbClr val="72D6E7"/>
                </a:solidFill>
              </a:rPr>
              <a:t>애플리케이션 통합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6DD2A91-14EF-41BF-85AD-1E5EDCAC39D2}"/>
              </a:ext>
            </a:extLst>
          </p:cNvPr>
          <p:cNvSpPr>
            <a:spLocks noGrp="1"/>
          </p:cNvSpPr>
          <p:nvPr/>
        </p:nvSpPr>
        <p:spPr>
          <a:xfrm>
            <a:off x="9753600" y="493395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검색·추천·</a:t>
            </a:r>
          </a:p>
          <a:p>
            <a:pPr algn="l">
              <a:defRPr sz="975" b="0">
                <a:solidFill>
                  <a:srgbClr val="10212B"/>
                </a:solidFill>
              </a:defRPr>
            </a:pPr>
            <a:r>
              <a:rPr sz="975" b="0">
                <a:solidFill>
                  <a:srgbClr val="10212B"/>
                </a:solidFill>
              </a:rPr>
              <a:t>클러스터링에 활용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9832397-616A-4E61-88F3-31C329B98EAD}"/>
              </a:ext>
            </a:extLst>
          </p:cNvPr>
          <p:cNvSpPr>
            <a:spLocks noGrp="1"/>
          </p:cNvSpPr>
          <p:nvPr/>
        </p:nvSpPr>
        <p:spPr>
          <a:xfrm>
            <a:off x="2724150" y="4972050"/>
            <a:ext cx="190500" cy="19050"/>
          </a:xfrm>
          <a:prstGeom prst="rect">
            <a:avLst/>
          </a:prstGeom>
          <a:solidFill>
            <a:srgbClr val="17374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138125-57CD-46C4-8F5D-0869205A2F07}"/>
              </a:ext>
            </a:extLst>
          </p:cNvPr>
          <p:cNvSpPr>
            <a:spLocks noGrp="1"/>
          </p:cNvSpPr>
          <p:nvPr/>
        </p:nvSpPr>
        <p:spPr>
          <a:xfrm>
            <a:off x="4819650" y="4972050"/>
            <a:ext cx="190500" cy="19050"/>
          </a:xfrm>
          <a:prstGeom prst="rect">
            <a:avLst/>
          </a:prstGeom>
          <a:solidFill>
            <a:srgbClr val="17374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DD2F4C2-E3D5-42EA-9C35-3B874B21F729}"/>
              </a:ext>
            </a:extLst>
          </p:cNvPr>
          <p:cNvSpPr>
            <a:spLocks noGrp="1"/>
          </p:cNvSpPr>
          <p:nvPr/>
        </p:nvSpPr>
        <p:spPr>
          <a:xfrm>
            <a:off x="6915150" y="4972050"/>
            <a:ext cx="190500" cy="19050"/>
          </a:xfrm>
          <a:prstGeom prst="rect">
            <a:avLst/>
          </a:prstGeom>
          <a:solidFill>
            <a:srgbClr val="17374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1F527B-29E3-4412-899C-995D2DCC0C4F}"/>
              </a:ext>
            </a:extLst>
          </p:cNvPr>
          <p:cNvSpPr>
            <a:spLocks noGrp="1"/>
          </p:cNvSpPr>
          <p:nvPr/>
        </p:nvSpPr>
        <p:spPr>
          <a:xfrm>
            <a:off x="9010650" y="4972050"/>
            <a:ext cx="190500" cy="19050"/>
          </a:xfrm>
          <a:prstGeom prst="rect">
            <a:avLst/>
          </a:prstGeom>
          <a:solidFill>
            <a:srgbClr val="17374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C6F12F9-6F2F-44F8-860A-B7260DCF48B0}"/>
              </a:ext>
            </a:extLst>
          </p:cNvPr>
          <p:cNvSpPr>
            <a:spLocks noGrp="1"/>
          </p:cNvSpPr>
          <p:nvPr/>
        </p:nvSpPr>
        <p:spPr>
          <a:xfrm>
            <a:off x="4286250" y="5715000"/>
            <a:ext cx="3600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0000"/>
            </a:srgbClr>
          </a:solidFill>
          <a:ln w="11430">
            <a:solidFill>
              <a:srgbClr val="0F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4E43C34-938D-4AB9-9B6C-310CB2AF7072}"/>
              </a:ext>
            </a:extLst>
          </p:cNvPr>
          <p:cNvSpPr>
            <a:spLocks noGrp="1"/>
          </p:cNvSpPr>
          <p:nvPr/>
        </p:nvSpPr>
        <p:spPr>
          <a:xfrm>
            <a:off x="4419600" y="5781675"/>
            <a:ext cx="333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A5A6"/>
                </a:solidFill>
              </a:defRPr>
            </a:pPr>
            <a:r>
              <a:rPr sz="900" b="1">
                <a:solidFill>
                  <a:srgbClr val="0FA5A6"/>
                </a:solidFill>
              </a:rPr>
              <a:t>목표: 관계가 보존되는 연속 벡터 공간</a:t>
            </a:r>
          </a:p>
        </p:txBody>
      </p:sp>
    </p:spTree>
    <p:extLst>
      <p:ext uri="{BB962C8B-B14F-4D97-AF65-F5344CB8AC3E}">
        <p14:creationId xmlns:p14="http://schemas.microsoft.com/office/powerpoint/2010/main" val="10667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44D989F-C2C6-4BC6-8F50-9810DFAC6D71}"/>
              </a:ext>
            </a:extLst>
          </p:cNvPr>
          <p:cNvSpPr>
            <a:spLocks noGrp="1"/>
          </p:cNvSpPr>
          <p:nvPr/>
        </p:nvSpPr>
        <p:spPr>
          <a:xfrm>
            <a:off x="8429625" y="-628650"/>
            <a:ext cx="4095750" cy="4095750"/>
          </a:xfrm>
          <a:prstGeom prst="ellipse">
            <a:avLst/>
          </a:prstGeom>
          <a:solidFill>
            <a:srgbClr val="77D8E7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16BD76-5B62-4642-A505-5F4718823DBA}"/>
              </a:ext>
            </a:extLst>
          </p:cNvPr>
          <p:cNvSpPr>
            <a:spLocks noGrp="1"/>
          </p:cNvSpPr>
          <p:nvPr/>
        </p:nvSpPr>
        <p:spPr>
          <a:xfrm>
            <a:off x="9239250" y="285750"/>
            <a:ext cx="2095500" cy="2095500"/>
          </a:xfrm>
          <a:prstGeom prst="ellipse">
            <a:avLst/>
          </a:prstGeom>
          <a:solidFill>
            <a:srgbClr val="0FA5A6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EBE348E-A947-4E5D-B1F2-98A6DFB4E148}"/>
              </a:ext>
            </a:extLst>
          </p:cNvPr>
          <p:cNvSpPr>
            <a:spLocks noGrp="1"/>
          </p:cNvSpPr>
          <p:nvPr/>
        </p:nvSpPr>
        <p:spPr>
          <a:xfrm>
            <a:off x="-857250" y="4953000"/>
            <a:ext cx="2381250" cy="2381250"/>
          </a:xfrm>
          <a:prstGeom prst="ellipse">
            <a:avLst/>
          </a:prstGeom>
          <a:solidFill>
            <a:srgbClr val="F18168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F2F659-946D-405E-9739-ABAAA15B8087}"/>
              </a:ext>
            </a:extLst>
          </p:cNvPr>
          <p:cNvSpPr>
            <a:spLocks noGrp="1"/>
          </p:cNvSpPr>
          <p:nvPr/>
        </p:nvSpPr>
        <p:spPr>
          <a:xfrm>
            <a:off x="-381000" y="-285750"/>
            <a:ext cx="1714500" cy="1714500"/>
          </a:xfrm>
          <a:prstGeom prst="ellipse">
            <a:avLst/>
          </a:prstGeom>
          <a:solidFill>
            <a:srgbClr val="D4A64B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CFDF71-5214-44DC-BA2D-C2BDC36183E0}"/>
              </a:ext>
            </a:extLst>
          </p:cNvPr>
          <p:cNvSpPr>
            <a:spLocks noGrp="1"/>
          </p:cNvSpPr>
          <p:nvPr/>
        </p:nvSpPr>
        <p:spPr>
          <a:xfrm>
            <a:off x="92773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E109D4-B4F8-4CEC-8270-72A10FFC25F1}"/>
              </a:ext>
            </a:extLst>
          </p:cNvPr>
          <p:cNvSpPr>
            <a:spLocks noGrp="1"/>
          </p:cNvSpPr>
          <p:nvPr/>
        </p:nvSpPr>
        <p:spPr>
          <a:xfrm>
            <a:off x="94869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BCB6E4-1100-4C2F-8967-14B36B1A7898}"/>
              </a:ext>
            </a:extLst>
          </p:cNvPr>
          <p:cNvSpPr>
            <a:spLocks noGrp="1"/>
          </p:cNvSpPr>
          <p:nvPr/>
        </p:nvSpPr>
        <p:spPr>
          <a:xfrm>
            <a:off x="96964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D6CE74-563D-4A3F-969C-BAFFF8AE6CAC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8B00D9-62D6-4E43-B2A4-D99B7812AD85}"/>
              </a:ext>
            </a:extLst>
          </p:cNvPr>
          <p:cNvSpPr>
            <a:spLocks noGrp="1"/>
          </p:cNvSpPr>
          <p:nvPr/>
        </p:nvSpPr>
        <p:spPr>
          <a:xfrm>
            <a:off x="101155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52AC32-516D-45DD-B20A-E8AFB8636F99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E1C52A-4B20-43F6-A265-02A673D61DED}"/>
              </a:ext>
            </a:extLst>
          </p:cNvPr>
          <p:cNvSpPr>
            <a:spLocks noGrp="1"/>
          </p:cNvSpPr>
          <p:nvPr/>
        </p:nvSpPr>
        <p:spPr>
          <a:xfrm>
            <a:off x="1053465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0C3BBB-254A-4F7A-864B-58F54024C307}"/>
              </a:ext>
            </a:extLst>
          </p:cNvPr>
          <p:cNvSpPr>
            <a:spLocks noGrp="1"/>
          </p:cNvSpPr>
          <p:nvPr/>
        </p:nvSpPr>
        <p:spPr>
          <a:xfrm>
            <a:off x="10744200" y="40957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DBF8E0-F201-4E86-8CD1-4EECDBBC9AF3}"/>
              </a:ext>
            </a:extLst>
          </p:cNvPr>
          <p:cNvSpPr>
            <a:spLocks noGrp="1"/>
          </p:cNvSpPr>
          <p:nvPr/>
        </p:nvSpPr>
        <p:spPr>
          <a:xfrm>
            <a:off x="92773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AC631F-B77E-4E20-AFF9-D313567555EC}"/>
              </a:ext>
            </a:extLst>
          </p:cNvPr>
          <p:cNvSpPr>
            <a:spLocks noGrp="1"/>
          </p:cNvSpPr>
          <p:nvPr/>
        </p:nvSpPr>
        <p:spPr>
          <a:xfrm>
            <a:off x="94869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85B5DC-C898-4940-9668-6275FAD6806C}"/>
              </a:ext>
            </a:extLst>
          </p:cNvPr>
          <p:cNvSpPr>
            <a:spLocks noGrp="1"/>
          </p:cNvSpPr>
          <p:nvPr/>
        </p:nvSpPr>
        <p:spPr>
          <a:xfrm>
            <a:off x="96964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361A9D-BA83-4D0A-9920-F33D70F82BEF}"/>
              </a:ext>
            </a:extLst>
          </p:cNvPr>
          <p:cNvSpPr>
            <a:spLocks noGrp="1"/>
          </p:cNvSpPr>
          <p:nvPr/>
        </p:nvSpPr>
        <p:spPr>
          <a:xfrm>
            <a:off x="99060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ACB009-714F-49E4-A1A6-D29963D5C5F8}"/>
              </a:ext>
            </a:extLst>
          </p:cNvPr>
          <p:cNvSpPr>
            <a:spLocks noGrp="1"/>
          </p:cNvSpPr>
          <p:nvPr/>
        </p:nvSpPr>
        <p:spPr>
          <a:xfrm>
            <a:off x="101155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AD50D2-BE5B-4D13-98E6-56F2FD3EE698}"/>
              </a:ext>
            </a:extLst>
          </p:cNvPr>
          <p:cNvSpPr>
            <a:spLocks noGrp="1"/>
          </p:cNvSpPr>
          <p:nvPr/>
        </p:nvSpPr>
        <p:spPr>
          <a:xfrm>
            <a:off x="103251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06EA0A-B6C7-46BA-BAB0-C79007339FF3}"/>
              </a:ext>
            </a:extLst>
          </p:cNvPr>
          <p:cNvSpPr>
            <a:spLocks noGrp="1"/>
          </p:cNvSpPr>
          <p:nvPr/>
        </p:nvSpPr>
        <p:spPr>
          <a:xfrm>
            <a:off x="1053465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E87115-15C9-44E6-A020-6BB64CC85005}"/>
              </a:ext>
            </a:extLst>
          </p:cNvPr>
          <p:cNvSpPr>
            <a:spLocks noGrp="1"/>
          </p:cNvSpPr>
          <p:nvPr/>
        </p:nvSpPr>
        <p:spPr>
          <a:xfrm>
            <a:off x="10744200" y="43053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30077-7953-4E7F-9784-C290CDB12D8D}"/>
              </a:ext>
            </a:extLst>
          </p:cNvPr>
          <p:cNvSpPr>
            <a:spLocks noGrp="1"/>
          </p:cNvSpPr>
          <p:nvPr/>
        </p:nvSpPr>
        <p:spPr>
          <a:xfrm>
            <a:off x="92773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370F5D-AD96-4A61-B345-F06589B00DF7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A35970-6D58-4B5F-9E00-7C3041AEB6E7}"/>
              </a:ext>
            </a:extLst>
          </p:cNvPr>
          <p:cNvSpPr>
            <a:spLocks noGrp="1"/>
          </p:cNvSpPr>
          <p:nvPr/>
        </p:nvSpPr>
        <p:spPr>
          <a:xfrm>
            <a:off x="96964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CBF8E3C-3EA1-4081-BB2B-F4C87BDB0772}"/>
              </a:ext>
            </a:extLst>
          </p:cNvPr>
          <p:cNvSpPr>
            <a:spLocks noGrp="1"/>
          </p:cNvSpPr>
          <p:nvPr/>
        </p:nvSpPr>
        <p:spPr>
          <a:xfrm>
            <a:off x="99060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2083A1-B51D-477B-87DE-2E411CB813FC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8582EC-2436-4DAD-85C5-FFEDBB73311C}"/>
              </a:ext>
            </a:extLst>
          </p:cNvPr>
          <p:cNvSpPr>
            <a:spLocks noGrp="1"/>
          </p:cNvSpPr>
          <p:nvPr/>
        </p:nvSpPr>
        <p:spPr>
          <a:xfrm>
            <a:off x="103251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70E1BF2-320A-41EB-932A-ABDD6AF0D8BE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32D8E4-F0E4-4196-BF49-47A056204A52}"/>
              </a:ext>
            </a:extLst>
          </p:cNvPr>
          <p:cNvSpPr>
            <a:spLocks noGrp="1"/>
          </p:cNvSpPr>
          <p:nvPr/>
        </p:nvSpPr>
        <p:spPr>
          <a:xfrm>
            <a:off x="10744200" y="45148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69AF1B-C8C6-41D0-876E-46B335E3497B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38BA1A5-EBF5-4D30-9874-7F68292052B3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ABD9A0-C490-4625-BA91-C15FDE83207E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6694FA-8FEC-4084-AC8C-7A5218FD698E}"/>
              </a:ext>
            </a:extLst>
          </p:cNvPr>
          <p:cNvSpPr>
            <a:spLocks noGrp="1"/>
          </p:cNvSpPr>
          <p:nvPr/>
        </p:nvSpPr>
        <p:spPr>
          <a:xfrm>
            <a:off x="99060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993570-437F-4ABB-8A6F-79DC00C4BB59}"/>
              </a:ext>
            </a:extLst>
          </p:cNvPr>
          <p:cNvSpPr>
            <a:spLocks noGrp="1"/>
          </p:cNvSpPr>
          <p:nvPr/>
        </p:nvSpPr>
        <p:spPr>
          <a:xfrm>
            <a:off x="101155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55221D0-4768-43A1-BC69-8CE329EFB67B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25D6DCC-E3C6-4EB1-A452-767A08650398}"/>
              </a:ext>
            </a:extLst>
          </p:cNvPr>
          <p:cNvSpPr>
            <a:spLocks noGrp="1"/>
          </p:cNvSpPr>
          <p:nvPr/>
        </p:nvSpPr>
        <p:spPr>
          <a:xfrm>
            <a:off x="1053465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00E7E94-4305-4588-8E0A-511C8248937B}"/>
              </a:ext>
            </a:extLst>
          </p:cNvPr>
          <p:cNvSpPr>
            <a:spLocks noGrp="1"/>
          </p:cNvSpPr>
          <p:nvPr/>
        </p:nvSpPr>
        <p:spPr>
          <a:xfrm>
            <a:off x="10744200" y="47244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BCA381-EAAA-431F-9465-87775BB0CAB0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7DD7984-9E31-4C61-9979-7E2F8FC67F23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F59125F-823C-4942-818F-00E134B4A432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1C9F507-6708-4560-9151-65FD9797569A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E49C27B-EE1D-42A7-9DC2-A8624FB02F0E}"/>
              </a:ext>
            </a:extLst>
          </p:cNvPr>
          <p:cNvSpPr>
            <a:spLocks noGrp="1"/>
          </p:cNvSpPr>
          <p:nvPr/>
        </p:nvSpPr>
        <p:spPr>
          <a:xfrm>
            <a:off x="101155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359640E-6047-47BE-8B0B-7AF9EAC7817D}"/>
              </a:ext>
            </a:extLst>
          </p:cNvPr>
          <p:cNvSpPr>
            <a:spLocks noGrp="1"/>
          </p:cNvSpPr>
          <p:nvPr/>
        </p:nvSpPr>
        <p:spPr>
          <a:xfrm>
            <a:off x="103251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081598B-E6C2-413F-A81D-D429F17F88C3}"/>
              </a:ext>
            </a:extLst>
          </p:cNvPr>
          <p:cNvSpPr>
            <a:spLocks noGrp="1"/>
          </p:cNvSpPr>
          <p:nvPr/>
        </p:nvSpPr>
        <p:spPr>
          <a:xfrm>
            <a:off x="1053465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FA1D98-3C77-42CA-9A43-DB5A0232F6AD}"/>
              </a:ext>
            </a:extLst>
          </p:cNvPr>
          <p:cNvSpPr>
            <a:spLocks noGrp="1"/>
          </p:cNvSpPr>
          <p:nvPr/>
        </p:nvSpPr>
        <p:spPr>
          <a:xfrm>
            <a:off x="10744200" y="493395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1B5CA1E-050E-4FD7-85CE-23A22438CCE2}"/>
              </a:ext>
            </a:extLst>
          </p:cNvPr>
          <p:cNvSpPr>
            <a:spLocks noGrp="1"/>
          </p:cNvSpPr>
          <p:nvPr/>
        </p:nvSpPr>
        <p:spPr>
          <a:xfrm>
            <a:off x="92773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353372E-6660-4C85-9C10-7A9D28862E97}"/>
              </a:ext>
            </a:extLst>
          </p:cNvPr>
          <p:cNvSpPr>
            <a:spLocks noGrp="1"/>
          </p:cNvSpPr>
          <p:nvPr/>
        </p:nvSpPr>
        <p:spPr>
          <a:xfrm>
            <a:off x="94869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F746710-913E-4BA6-A31A-C877CAB43767}"/>
              </a:ext>
            </a:extLst>
          </p:cNvPr>
          <p:cNvSpPr>
            <a:spLocks noGrp="1"/>
          </p:cNvSpPr>
          <p:nvPr/>
        </p:nvSpPr>
        <p:spPr>
          <a:xfrm>
            <a:off x="96964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5EAC6F0-A92F-4D60-96C9-84A522E92D5D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7F5FF49-D6FA-4724-AB7E-6080F5D1BD9B}"/>
              </a:ext>
            </a:extLst>
          </p:cNvPr>
          <p:cNvSpPr>
            <a:spLocks noGrp="1"/>
          </p:cNvSpPr>
          <p:nvPr/>
        </p:nvSpPr>
        <p:spPr>
          <a:xfrm>
            <a:off x="101155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CA092F7-840E-4B1C-A919-6F548D1345C5}"/>
              </a:ext>
            </a:extLst>
          </p:cNvPr>
          <p:cNvSpPr>
            <a:spLocks noGrp="1"/>
          </p:cNvSpPr>
          <p:nvPr/>
        </p:nvSpPr>
        <p:spPr>
          <a:xfrm>
            <a:off x="103251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83DA51C-ABB6-4976-817A-ADDD69285C84}"/>
              </a:ext>
            </a:extLst>
          </p:cNvPr>
          <p:cNvSpPr>
            <a:spLocks noGrp="1"/>
          </p:cNvSpPr>
          <p:nvPr/>
        </p:nvSpPr>
        <p:spPr>
          <a:xfrm>
            <a:off x="1053465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8627E69-E395-49A3-A4C4-1FF02BC211BF}"/>
              </a:ext>
            </a:extLst>
          </p:cNvPr>
          <p:cNvSpPr>
            <a:spLocks noGrp="1"/>
          </p:cNvSpPr>
          <p:nvPr/>
        </p:nvSpPr>
        <p:spPr>
          <a:xfrm>
            <a:off x="10744200" y="5143500"/>
            <a:ext cx="38100" cy="38100"/>
          </a:xfrm>
          <a:prstGeom prst="ellipse">
            <a:avLst/>
          </a:prstGeom>
          <a:solidFill>
            <a:srgbClr val="0FA5A6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86CC8DD-24EF-4CD6-95B6-137988E4932C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1981200" cy="742950"/>
          </a:xfrm>
          <a:prstGeom prst="roundRect">
            <a:avLst>
              <a:gd name="adj" fmla="val 10256"/>
            </a:avLst>
          </a:prstGeom>
          <a:solidFill>
            <a:srgbClr val="FFFFFF">
              <a:alpha val="82353"/>
            </a:srgbClr>
          </a:solidFill>
          <a:ln w="9525">
            <a:solidFill>
              <a:srgbClr val="173746">
                <a:alpha val="784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CE2D9E7-9D0C-4C50-BA34-1C0D2B6CA420}"/>
              </a:ext>
            </a:extLst>
          </p:cNvPr>
          <p:cNvSpPr>
            <a:spLocks noGrp="1"/>
          </p:cNvSpPr>
          <p:nvPr/>
        </p:nvSpPr>
        <p:spPr>
          <a:xfrm>
            <a:off x="8477250" y="3600450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43C388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D2229DC-4851-4780-857C-973AF393A8F9}"/>
              </a:ext>
            </a:extLst>
          </p:cNvPr>
          <p:cNvSpPr>
            <a:spLocks noGrp="1"/>
          </p:cNvSpPr>
          <p:nvPr/>
        </p:nvSpPr>
        <p:spPr>
          <a:xfrm>
            <a:off x="9582150" y="3600450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72D6E7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2719FA-FDF2-43AB-B5A9-3BF4CD782D6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APPLICATIONS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DA3E73-6412-404B-8808-24C450C8228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FA5A6"/>
                </a:solidFill>
              </a:defRPr>
            </a:pPr>
            <a:r>
              <a:rPr sz="975" b="1">
                <a:solidFill>
                  <a:srgbClr val="0FA5A6"/>
                </a:solidFill>
              </a:rPr>
              <a:t>07 / 07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478627-02F0-489D-9589-F9FA5531D8C7}"/>
              </a:ext>
            </a:extLst>
          </p:cNvPr>
          <p:cNvSpPr>
            <a:spLocks noGrp="1"/>
          </p:cNvSpPr>
          <p:nvPr/>
        </p:nvSpPr>
        <p:spPr>
          <a:xfrm>
            <a:off x="609600" y="600075"/>
            <a:ext cx="10972800" cy="19050"/>
          </a:xfrm>
          <a:prstGeom prst="rect">
            <a:avLst/>
          </a:prstGeom>
          <a:solidFill>
            <a:srgbClr val="173746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684A3D6-ED60-4BB8-BC7E-1D8B4E49A48E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52400" cy="152400"/>
          </a:xfrm>
          <a:prstGeom prst="ellipse">
            <a:avLst/>
          </a:prstGeom>
          <a:solidFill>
            <a:srgbClr val="0FA5A6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9035D7-2790-41E1-BA54-BF1599F40D5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실제 시스템에서는</a:t>
            </a:r>
          </a:p>
          <a:p>
            <a:pPr algn="l"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'유사한 것을 더 잘 찾는 능력'으로 나타난다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F26D27-7849-4627-B8F6-0332946B5F2C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6858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44450"/>
                </a:solidFill>
              </a:defRPr>
            </a:pPr>
            <a:r>
              <a:rPr sz="1350" b="0" dirty="0" err="1">
                <a:solidFill>
                  <a:srgbClr val="344450"/>
                </a:solidFill>
              </a:rPr>
              <a:t>임베딩은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검색·추천·인식·질문응답의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공통</a:t>
            </a:r>
            <a:r>
              <a:rPr sz="1350" b="0" dirty="0">
                <a:solidFill>
                  <a:srgbClr val="344450"/>
                </a:solidFill>
              </a:rPr>
              <a:t> </a:t>
            </a:r>
            <a:r>
              <a:rPr sz="1350" b="0" dirty="0" err="1">
                <a:solidFill>
                  <a:srgbClr val="344450"/>
                </a:solidFill>
              </a:rPr>
              <a:t>기반이다</a:t>
            </a:r>
            <a:r>
              <a:rPr sz="1350" b="0" dirty="0">
                <a:solidFill>
                  <a:srgbClr val="344450"/>
                </a:solidFill>
              </a:rPr>
              <a:t>.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52E81BC-1A76-4A6C-A63C-365149640CBE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51C8BE-3B5C-4068-B3DB-D2214D2CA4DB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76200" cy="1123950"/>
          </a:xfrm>
          <a:prstGeom prst="rect">
            <a:avLst/>
          </a:prstGeom>
          <a:solidFill>
            <a:srgbClr val="0FA5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A317CA-941B-410A-9CC3-59A6FC8271A8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A5A6"/>
                </a:solidFill>
              </a:defRPr>
            </a:pPr>
            <a:r>
              <a:rPr sz="1200" b="1">
                <a:solidFill>
                  <a:srgbClr val="0FA5A6"/>
                </a:solidFill>
              </a:rPr>
              <a:t>NLP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697059-810E-40E1-8B14-47DEC03E3952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2686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감성 분석, 질문응답, 문서 유사성 비교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30596B2-71B8-4503-8DE5-DCCF6480F428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F27859-A552-4595-B2D4-0DE75538C315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76200" cy="1123950"/>
          </a:xfrm>
          <a:prstGeom prst="rect">
            <a:avLst/>
          </a:prstGeom>
          <a:solidFill>
            <a:srgbClr val="F181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F1364A5-B3D7-446B-8180-89B3435DBA35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8168"/>
                </a:solidFill>
              </a:defRPr>
            </a:pPr>
            <a:r>
              <a:rPr sz="1200" b="1">
                <a:solidFill>
                  <a:srgbClr val="F18168"/>
                </a:solidFill>
              </a:rPr>
              <a:t>컴퓨팅 비전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942CBD-DA3F-4013-B8AD-B50FFC4F9D47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2686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12B"/>
                </a:solidFill>
              </a:defRPr>
            </a:pPr>
            <a:r>
              <a:rPr sz="1200" b="0">
                <a:solidFill>
                  <a:srgbClr val="10212B"/>
                </a:solidFill>
              </a:rPr>
              <a:t>이미지 분류, 이미지 검색, 얼굴 인식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C541581-2005-45D8-8A6C-B0B7799B8254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3143250" cy="857250"/>
          </a:xfrm>
          <a:prstGeom prst="roundRect">
            <a:avLst>
              <a:gd name="adj" fmla="val 8889"/>
            </a:avLst>
          </a:prstGeom>
          <a:solidFill>
            <a:srgbClr val="FFFDF0">
              <a:alpha val="90980"/>
            </a:srgbClr>
          </a:solidFill>
          <a:ln w="11430">
            <a:solidFill>
              <a:srgbClr val="173746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15D1FBE-0917-4E2E-A9A1-A2DB52070231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76200" cy="857250"/>
          </a:xfrm>
          <a:prstGeom prst="rect">
            <a:avLst/>
          </a:prstGeom>
          <a:solidFill>
            <a:srgbClr val="D4A6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76E0235-863C-4CD1-AE14-9EDD5A0A2971}"/>
              </a:ext>
            </a:extLst>
          </p:cNvPr>
          <p:cNvSpPr>
            <a:spLocks noGrp="1"/>
          </p:cNvSpPr>
          <p:nvPr/>
        </p:nvSpPr>
        <p:spPr>
          <a:xfrm>
            <a:off x="838200" y="55435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4A64B"/>
                </a:solidFill>
              </a:defRPr>
            </a:pPr>
            <a:r>
              <a:rPr sz="1125" b="1">
                <a:solidFill>
                  <a:srgbClr val="D4A64B"/>
                </a:solidFill>
              </a:rPr>
              <a:t>추천 시스템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A939837-27B8-485E-9AE6-ACEAA099E101}"/>
              </a:ext>
            </a:extLst>
          </p:cNvPr>
          <p:cNvSpPr>
            <a:spLocks noGrp="1"/>
          </p:cNvSpPr>
          <p:nvPr/>
        </p:nvSpPr>
        <p:spPr>
          <a:xfrm>
            <a:off x="1943100" y="5514975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B"/>
                </a:solidFill>
              </a:defRPr>
            </a:pPr>
            <a:r>
              <a:rPr sz="1125" b="0">
                <a:solidFill>
                  <a:srgbClr val="10212B"/>
                </a:solidFill>
              </a:rPr>
              <a:t>사용자-항목 매칭과</a:t>
            </a:r>
          </a:p>
          <a:p>
            <a:pPr algn="l">
              <a:defRPr sz="1125" b="0">
                <a:solidFill>
                  <a:srgbClr val="10212B"/>
                </a:solidFill>
              </a:defRPr>
            </a:pPr>
            <a:r>
              <a:rPr sz="1125" b="0">
                <a:solidFill>
                  <a:srgbClr val="10212B"/>
                </a:solidFill>
              </a:rPr>
              <a:t>개인화 추천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4A323CB-001C-4A81-B761-56C8DB2D92E7}"/>
              </a:ext>
            </a:extLst>
          </p:cNvPr>
          <p:cNvSpPr>
            <a:spLocks noGrp="1"/>
          </p:cNvSpPr>
          <p:nvPr/>
        </p:nvSpPr>
        <p:spPr>
          <a:xfrm>
            <a:off x="4171950" y="2724150"/>
            <a:ext cx="6819900" cy="3486150"/>
          </a:xfrm>
          <a:prstGeom prst="roundRect">
            <a:avLst>
              <a:gd name="adj" fmla="val 2186"/>
            </a:avLst>
          </a:prstGeom>
          <a:solidFill>
            <a:srgbClr val="FFFFFF">
              <a:alpha val="83137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DB97212-C1A5-4C4B-B4C5-CA0964EFDA9C}"/>
              </a:ext>
            </a:extLst>
          </p:cNvPr>
          <p:cNvSpPr>
            <a:spLocks noGrp="1"/>
          </p:cNvSpPr>
          <p:nvPr/>
        </p:nvSpPr>
        <p:spPr>
          <a:xfrm>
            <a:off x="4495800" y="2990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발표용 한 장 요약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F83905C-E13A-46C8-AE6B-EC6C7D99CE3A}"/>
              </a:ext>
            </a:extLst>
          </p:cNvPr>
          <p:cNvSpPr>
            <a:spLocks noGrp="1"/>
          </p:cNvSpPr>
          <p:nvPr/>
        </p:nvSpPr>
        <p:spPr>
          <a:xfrm>
            <a:off x="4495800" y="3390900"/>
            <a:ext cx="37528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• raw data를 벡터 공간으로 옮기면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의미 기반 검색과 매칭이 쉬워진다.</a:t>
            </a:r>
          </a:p>
          <a:p>
            <a:endParaRPr sz="1350" b="0">
              <a:solidFill>
                <a:srgbClr val="10212B"/>
              </a:solidFill>
            </a:endParaRP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• 텍스트, 이미지, 오디오, 그래프처럼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서로 다른 입력도 같은 추상화 위에서 다룰 수 있다.</a:t>
            </a:r>
          </a:p>
          <a:p>
            <a:endParaRPr sz="1350" b="0">
              <a:solidFill>
                <a:srgbClr val="10212B"/>
              </a:solidFill>
            </a:endParaRP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• 그래서 검색 엔진, 추천 시스템, 챗봇,</a:t>
            </a:r>
          </a:p>
          <a:p>
            <a:pPr algn="l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  사기 탐지 같은 애플리케이션의 기반이 된다.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21379D5-1BA9-4470-9642-452160EBA8AA}"/>
              </a:ext>
            </a:extLst>
          </p:cNvPr>
          <p:cNvSpPr>
            <a:spLocks noGrp="1"/>
          </p:cNvSpPr>
          <p:nvPr/>
        </p:nvSpPr>
        <p:spPr>
          <a:xfrm>
            <a:off x="8515350" y="3390900"/>
            <a:ext cx="2038350" cy="1962150"/>
          </a:xfrm>
          <a:prstGeom prst="roundRect">
            <a:avLst>
              <a:gd name="adj" fmla="val 3883"/>
            </a:avLst>
          </a:prstGeom>
          <a:solidFill>
            <a:srgbClr val="FFF9EE">
              <a:alpha val="83137"/>
            </a:srgbClr>
          </a:solidFill>
          <a:ln w="11430">
            <a:solidFill>
              <a:srgbClr val="173746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DEEC4EB-7E95-4E1D-8911-B928E31E4DA9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FA5A6"/>
                </a:solidFill>
              </a:defRPr>
            </a:pPr>
            <a:r>
              <a:rPr sz="1800" b="1">
                <a:solidFill>
                  <a:srgbClr val="0FA5A6"/>
                </a:solidFill>
              </a:rPr>
              <a:t>Embedding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0420552-CF7E-45E6-B16E-136BE6C2A82B}"/>
              </a:ext>
            </a:extLst>
          </p:cNvPr>
          <p:cNvSpPr>
            <a:spLocks noGrp="1"/>
          </p:cNvSpPr>
          <p:nvPr/>
        </p:nvSpPr>
        <p:spPr>
          <a:xfrm>
            <a:off x="8820150" y="4095750"/>
            <a:ext cx="1428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의미를 보존한 채</a:t>
            </a:r>
          </a:p>
          <a:p>
            <a:pPr algn="ctr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데이터를</a:t>
            </a:r>
          </a:p>
          <a:p>
            <a:pPr algn="ctr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계산 가능한 좌표로</a:t>
            </a:r>
          </a:p>
          <a:p>
            <a:pPr algn="ctr"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옮기는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6440264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637</Words>
  <Application>Microsoft Office PowerPoint</Application>
  <DocSecurity>0</DocSecurity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Yoonpyo Hong</cp:lastModifiedBy>
  <cp:revision>4</cp:revision>
  <dcterms:created xsi:type="dcterms:W3CDTF">2026-04-17T04:55:43Z</dcterms:created>
  <dcterms:modified xsi:type="dcterms:W3CDTF">2026-05-11T01:22:39Z</dcterms:modified>
</cp:coreProperties>
</file>